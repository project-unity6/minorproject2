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59" r:id="rId11"/>
    <p:sldId id="266" r:id="rId12"/>
    <p:sldId id="267" r:id="rId13"/>
    <p:sldId id="268" r:id="rId14"/>
    <p:sldId id="269" r:id="rId1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150491" y="363677"/>
            <a:ext cx="4660265" cy="628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-1"/>
            <a:ext cx="2847974" cy="68579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0975" cy="6858000"/>
          </a:xfrm>
          <a:custGeom>
            <a:avLst/>
            <a:gdLst/>
            <a:ahLst/>
            <a:cxnLst/>
            <a:rect l="l" t="t" r="r" b="b"/>
            <a:pathLst>
              <a:path w="180975" h="6858000">
                <a:moveTo>
                  <a:pt x="180975" y="0"/>
                </a:moveTo>
                <a:lnTo>
                  <a:pt x="0" y="0"/>
                </a:lnTo>
                <a:lnTo>
                  <a:pt x="0" y="6858000"/>
                </a:lnTo>
                <a:lnTo>
                  <a:pt x="180975" y="6858000"/>
                </a:lnTo>
                <a:lnTo>
                  <a:pt x="180975" y="0"/>
                </a:lnTo>
                <a:close/>
              </a:path>
            </a:pathLst>
          </a:custGeom>
          <a:solidFill>
            <a:srgbClr val="766D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584688" y="6248400"/>
            <a:ext cx="1588770" cy="504825"/>
          </a:xfrm>
          <a:custGeom>
            <a:avLst/>
            <a:gdLst/>
            <a:ahLst/>
            <a:cxnLst/>
            <a:rect l="l" t="t" r="r" b="b"/>
            <a:pathLst>
              <a:path w="1588770" h="504825">
                <a:moveTo>
                  <a:pt x="344423" y="0"/>
                </a:moveTo>
                <a:lnTo>
                  <a:pt x="244601" y="0"/>
                </a:lnTo>
                <a:lnTo>
                  <a:pt x="238378" y="6362"/>
                </a:lnTo>
                <a:lnTo>
                  <a:pt x="7111" y="237312"/>
                </a:lnTo>
                <a:lnTo>
                  <a:pt x="1777" y="244436"/>
                </a:lnTo>
                <a:lnTo>
                  <a:pt x="0" y="251548"/>
                </a:lnTo>
                <a:lnTo>
                  <a:pt x="1777" y="258673"/>
                </a:lnTo>
                <a:lnTo>
                  <a:pt x="7111" y="265785"/>
                </a:lnTo>
                <a:lnTo>
                  <a:pt x="235076" y="493618"/>
                </a:lnTo>
                <a:lnTo>
                  <a:pt x="240029" y="493618"/>
                </a:lnTo>
                <a:lnTo>
                  <a:pt x="240029" y="498363"/>
                </a:lnTo>
                <a:lnTo>
                  <a:pt x="244601" y="498363"/>
                </a:lnTo>
                <a:lnTo>
                  <a:pt x="249427" y="503109"/>
                </a:lnTo>
                <a:lnTo>
                  <a:pt x="1583943" y="504823"/>
                </a:lnTo>
                <a:lnTo>
                  <a:pt x="1588261" y="3530"/>
                </a:lnTo>
                <a:lnTo>
                  <a:pt x="344423" y="0"/>
                </a:lnTo>
                <a:close/>
              </a:path>
            </a:pathLst>
          </a:custGeom>
          <a:solidFill>
            <a:srgbClr val="A32E0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" y="0"/>
            <a:ext cx="1457325" cy="124777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06150" y="0"/>
            <a:ext cx="1009650" cy="140970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62550" y="3171761"/>
            <a:ext cx="3443351" cy="576262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69535" y="3179571"/>
            <a:ext cx="3387343" cy="523875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62525" y="4076763"/>
            <a:ext cx="3519551" cy="15382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-1"/>
            <a:ext cx="2847974" cy="68579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0"/>
            <a:ext cx="180975" cy="6858000"/>
          </a:xfrm>
          <a:custGeom>
            <a:avLst/>
            <a:gdLst/>
            <a:ahLst/>
            <a:cxnLst/>
            <a:rect l="l" t="t" r="r" b="b"/>
            <a:pathLst>
              <a:path w="180975" h="6858000">
                <a:moveTo>
                  <a:pt x="180975" y="0"/>
                </a:moveTo>
                <a:lnTo>
                  <a:pt x="0" y="0"/>
                </a:lnTo>
                <a:lnTo>
                  <a:pt x="0" y="6858000"/>
                </a:lnTo>
                <a:lnTo>
                  <a:pt x="180975" y="6858000"/>
                </a:lnTo>
                <a:lnTo>
                  <a:pt x="180975" y="0"/>
                </a:lnTo>
                <a:close/>
              </a:path>
            </a:pathLst>
          </a:custGeom>
          <a:solidFill>
            <a:srgbClr val="766D5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584688" y="6248400"/>
            <a:ext cx="1588770" cy="504825"/>
          </a:xfrm>
          <a:custGeom>
            <a:avLst/>
            <a:gdLst/>
            <a:ahLst/>
            <a:cxnLst/>
            <a:rect l="l" t="t" r="r" b="b"/>
            <a:pathLst>
              <a:path w="1588770" h="504825">
                <a:moveTo>
                  <a:pt x="344423" y="0"/>
                </a:moveTo>
                <a:lnTo>
                  <a:pt x="244601" y="0"/>
                </a:lnTo>
                <a:lnTo>
                  <a:pt x="238378" y="6362"/>
                </a:lnTo>
                <a:lnTo>
                  <a:pt x="7111" y="237312"/>
                </a:lnTo>
                <a:lnTo>
                  <a:pt x="1777" y="244436"/>
                </a:lnTo>
                <a:lnTo>
                  <a:pt x="0" y="251548"/>
                </a:lnTo>
                <a:lnTo>
                  <a:pt x="1777" y="258673"/>
                </a:lnTo>
                <a:lnTo>
                  <a:pt x="7111" y="265785"/>
                </a:lnTo>
                <a:lnTo>
                  <a:pt x="235076" y="493618"/>
                </a:lnTo>
                <a:lnTo>
                  <a:pt x="240029" y="493618"/>
                </a:lnTo>
                <a:lnTo>
                  <a:pt x="240029" y="498363"/>
                </a:lnTo>
                <a:lnTo>
                  <a:pt x="244601" y="498363"/>
                </a:lnTo>
                <a:lnTo>
                  <a:pt x="249427" y="503109"/>
                </a:lnTo>
                <a:lnTo>
                  <a:pt x="1583943" y="504823"/>
                </a:lnTo>
                <a:lnTo>
                  <a:pt x="1588261" y="3530"/>
                </a:lnTo>
                <a:lnTo>
                  <a:pt x="344423" y="0"/>
                </a:lnTo>
                <a:close/>
              </a:path>
            </a:pathLst>
          </a:custGeom>
          <a:solidFill>
            <a:srgbClr val="A32E0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400" y="0"/>
            <a:ext cx="1457325" cy="1247775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106150" y="0"/>
            <a:ext cx="1009650" cy="1409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79167" y="225044"/>
            <a:ext cx="5059299" cy="10382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242424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11629" y="2551302"/>
            <a:ext cx="8218805" cy="3046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98529" y="6367972"/>
            <a:ext cx="369570" cy="321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rbantechinsights.com/reports/smart-parking-pricing" TargetMode="External"/><Relationship Id="rId2" Type="http://schemas.openxmlformats.org/officeDocument/2006/relationships/hyperlink" Target="https://www.smartmobilitytoday.in/urban-park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tech4urban.in/blog/user-centric-parking" TargetMode="External"/><Relationship Id="rId5" Type="http://schemas.openxmlformats.org/officeDocument/2006/relationships/hyperlink" Target="https://www.citydataindia.org/reports/ndmc-parking" TargetMode="External"/><Relationship Id="rId4" Type="http://schemas.openxmlformats.org/officeDocument/2006/relationships/hyperlink" Target="https://www.parkingnetwork.com/blog/web-based-solutions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039600" cy="6629400"/>
            <a:chOff x="0" y="0"/>
            <a:chExt cx="12039600" cy="66294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039599" cy="66294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2695574" cy="6629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28575" cy="6629400"/>
            </a:xfrm>
            <a:custGeom>
              <a:avLst/>
              <a:gdLst/>
              <a:ahLst/>
              <a:cxnLst/>
              <a:rect l="l" t="t" r="r" b="b"/>
              <a:pathLst>
                <a:path w="28575" h="6629400">
                  <a:moveTo>
                    <a:pt x="0" y="6629400"/>
                  </a:moveTo>
                  <a:lnTo>
                    <a:pt x="28575" y="6629400"/>
                  </a:lnTo>
                  <a:lnTo>
                    <a:pt x="28575" y="0"/>
                  </a:lnTo>
                  <a:lnTo>
                    <a:pt x="0" y="0"/>
                  </a:lnTo>
                  <a:lnTo>
                    <a:pt x="0" y="6629400"/>
                  </a:lnTo>
                  <a:close/>
                </a:path>
              </a:pathLst>
            </a:custGeom>
            <a:solidFill>
              <a:srgbClr val="766D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852164" y="1491233"/>
            <a:ext cx="4788535" cy="16427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859790" marR="843280" algn="ctr">
              <a:lnSpc>
                <a:spcPct val="102200"/>
              </a:lnSpc>
              <a:spcBef>
                <a:spcPts val="25"/>
              </a:spcBef>
            </a:pPr>
            <a:r>
              <a:rPr sz="2750" dirty="0"/>
              <a:t>Synopsis</a:t>
            </a:r>
            <a:r>
              <a:rPr sz="2750" spc="80" dirty="0"/>
              <a:t> </a:t>
            </a:r>
            <a:r>
              <a:rPr sz="2750" spc="-10" dirty="0"/>
              <a:t>Presentation </a:t>
            </a:r>
            <a:r>
              <a:rPr sz="2750" spc="-25" dirty="0"/>
              <a:t>on</a:t>
            </a:r>
            <a:endParaRPr sz="2750"/>
          </a:p>
          <a:p>
            <a:pPr marL="12700" marR="5080" algn="ctr">
              <a:lnSpc>
                <a:spcPct val="100000"/>
              </a:lnSpc>
              <a:spcBef>
                <a:spcPts val="305"/>
              </a:spcBef>
            </a:pPr>
            <a:r>
              <a:rPr sz="2400" b="1" dirty="0">
                <a:latin typeface="Times New Roman"/>
                <a:cs typeface="Times New Roman"/>
              </a:rPr>
              <a:t>Intelligent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Real-</a:t>
            </a:r>
            <a:r>
              <a:rPr sz="2400" b="1" dirty="0">
                <a:latin typeface="Times New Roman"/>
                <a:cs typeface="Times New Roman"/>
              </a:rPr>
              <a:t>Time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Street</a:t>
            </a:r>
            <a:r>
              <a:rPr sz="2400" b="1" spc="-1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Parking </a:t>
            </a:r>
            <a:r>
              <a:rPr sz="2400" b="1" dirty="0">
                <a:latin typeface="Times New Roman"/>
                <a:cs typeface="Times New Roman"/>
              </a:rPr>
              <a:t>Solutions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-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ParkHub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270242" y="4331970"/>
            <a:ext cx="1381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75757"/>
                </a:solidFill>
                <a:latin typeface="Times New Roman"/>
                <a:cs typeface="Times New Roman"/>
              </a:rPr>
              <a:t>Presented</a:t>
            </a:r>
            <a:r>
              <a:rPr sz="1800" b="1" spc="-10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575757"/>
                </a:solidFill>
                <a:latin typeface="Times New Roman"/>
                <a:cs typeface="Times New Roman"/>
              </a:rPr>
              <a:t>By: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1402" y="4223643"/>
            <a:ext cx="2076450" cy="72707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800" b="1" dirty="0">
                <a:solidFill>
                  <a:srgbClr val="575757"/>
                </a:solidFill>
                <a:latin typeface="Times New Roman"/>
                <a:cs typeface="Times New Roman"/>
              </a:rPr>
              <a:t>Guided</a:t>
            </a:r>
            <a:r>
              <a:rPr sz="1800" b="1" spc="-5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575757"/>
                </a:solidFill>
                <a:latin typeface="Times New Roman"/>
                <a:cs typeface="Times New Roman"/>
              </a:rPr>
              <a:t>By:</a:t>
            </a:r>
            <a:endParaRPr sz="1800">
              <a:latin typeface="Times New Roman"/>
              <a:cs typeface="Times New Roman"/>
            </a:endParaRPr>
          </a:p>
          <a:p>
            <a:pPr marL="60960">
              <a:lnSpc>
                <a:spcPct val="100000"/>
              </a:lnSpc>
              <a:spcBef>
                <a:spcPts val="710"/>
              </a:spcBef>
            </a:pPr>
            <a:r>
              <a:rPr sz="1500" dirty="0">
                <a:solidFill>
                  <a:srgbClr val="575757"/>
                </a:solidFill>
                <a:latin typeface="Times New Roman"/>
                <a:cs typeface="Times New Roman"/>
              </a:rPr>
              <a:t>Prof.</a:t>
            </a:r>
            <a:r>
              <a:rPr sz="1500" spc="-6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75757"/>
                </a:solidFill>
                <a:latin typeface="Times New Roman"/>
                <a:cs typeface="Times New Roman"/>
              </a:rPr>
              <a:t>Pawan</a:t>
            </a:r>
            <a:r>
              <a:rPr sz="1500" spc="-3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75757"/>
                </a:solidFill>
                <a:latin typeface="Times New Roman"/>
                <a:cs typeface="Times New Roman"/>
              </a:rPr>
              <a:t>Kumar</a:t>
            </a:r>
            <a:r>
              <a:rPr sz="1500" spc="-7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500" spc="-20" dirty="0">
                <a:solidFill>
                  <a:srgbClr val="575757"/>
                </a:solidFill>
                <a:latin typeface="Times New Roman"/>
                <a:cs typeface="Times New Roman"/>
              </a:rPr>
              <a:t>Gupta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0717" y="4761102"/>
            <a:ext cx="2708910" cy="1269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575">
              <a:lnSpc>
                <a:spcPct val="136000"/>
              </a:lnSpc>
              <a:spcBef>
                <a:spcPts val="100"/>
              </a:spcBef>
            </a:pPr>
            <a:r>
              <a:rPr sz="1500" dirty="0">
                <a:solidFill>
                  <a:srgbClr val="575757"/>
                </a:solidFill>
                <a:latin typeface="Times New Roman"/>
                <a:cs typeface="Times New Roman"/>
              </a:rPr>
              <a:t>Nikita</a:t>
            </a:r>
            <a:r>
              <a:rPr sz="1500" spc="-5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575757"/>
                </a:solidFill>
                <a:latin typeface="Times New Roman"/>
                <a:cs typeface="Times New Roman"/>
              </a:rPr>
              <a:t>Porwal(0827IT231095) </a:t>
            </a:r>
            <a:r>
              <a:rPr sz="1500" dirty="0">
                <a:solidFill>
                  <a:srgbClr val="575757"/>
                </a:solidFill>
                <a:latin typeface="Times New Roman"/>
                <a:cs typeface="Times New Roman"/>
              </a:rPr>
              <a:t>Rajnandani</a:t>
            </a:r>
            <a:r>
              <a:rPr sz="1500" spc="-8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575757"/>
                </a:solidFill>
                <a:latin typeface="Times New Roman"/>
                <a:cs typeface="Times New Roman"/>
              </a:rPr>
              <a:t>Patidar(0827IT231109) </a:t>
            </a:r>
            <a:r>
              <a:rPr sz="1500" dirty="0">
                <a:solidFill>
                  <a:srgbClr val="575757"/>
                </a:solidFill>
                <a:latin typeface="Times New Roman"/>
                <a:cs typeface="Times New Roman"/>
              </a:rPr>
              <a:t>Sidhant</a:t>
            </a:r>
            <a:r>
              <a:rPr sz="1500" spc="-5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575757"/>
                </a:solidFill>
                <a:latin typeface="Times New Roman"/>
                <a:cs typeface="Times New Roman"/>
              </a:rPr>
              <a:t>Narkhede(0827IT231133) </a:t>
            </a:r>
            <a:r>
              <a:rPr sz="1500" dirty="0">
                <a:solidFill>
                  <a:srgbClr val="575757"/>
                </a:solidFill>
                <a:latin typeface="Times New Roman"/>
                <a:cs typeface="Times New Roman"/>
              </a:rPr>
              <a:t>Vishal</a:t>
            </a:r>
            <a:r>
              <a:rPr sz="1500" spc="225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75757"/>
                </a:solidFill>
                <a:latin typeface="Times New Roman"/>
                <a:cs typeface="Times New Roman"/>
              </a:rPr>
              <a:t>Nakum</a:t>
            </a:r>
            <a:r>
              <a:rPr sz="1500" spc="-70" dirty="0">
                <a:solidFill>
                  <a:srgbClr val="575757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575757"/>
                </a:solidFill>
                <a:latin typeface="Times New Roman"/>
                <a:cs typeface="Times New Roman"/>
              </a:rPr>
              <a:t>(0827IT231147)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19075" y="0"/>
            <a:ext cx="11820525" cy="1733550"/>
            <a:chOff x="219075" y="0"/>
            <a:chExt cx="11820525" cy="173355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68025" y="0"/>
              <a:ext cx="1171575" cy="17335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075" y="0"/>
              <a:ext cx="1619250" cy="13811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70175" y="486867"/>
            <a:ext cx="1797685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670175" y="1000795"/>
            <a:ext cx="3137535" cy="5015865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456565" marR="1320800" indent="-456565" algn="r">
              <a:lnSpc>
                <a:spcPct val="100000"/>
              </a:lnSpc>
              <a:spcBef>
                <a:spcPts val="919"/>
              </a:spcBef>
              <a:buClr>
                <a:srgbClr val="A32E0E"/>
              </a:buClr>
              <a:buAutoNum type="arabicPeriod"/>
              <a:tabLst>
                <a:tab pos="456565" algn="l"/>
              </a:tabLst>
            </a:pPr>
            <a:r>
              <a:rPr sz="2150" spc="-10" dirty="0">
                <a:solidFill>
                  <a:srgbClr val="404040"/>
                </a:solidFill>
                <a:latin typeface="Times New Roman"/>
                <a:cs typeface="Times New Roman"/>
              </a:rPr>
              <a:t>Introduction</a:t>
            </a:r>
            <a:endParaRPr sz="2150">
              <a:latin typeface="Times New Roman"/>
              <a:cs typeface="Times New Roman"/>
            </a:endParaRPr>
          </a:p>
          <a:p>
            <a:pPr marL="360680" marR="1384935" lvl="1" indent="-360680" algn="r">
              <a:lnSpc>
                <a:spcPct val="100000"/>
              </a:lnSpc>
              <a:spcBef>
                <a:spcPts val="710"/>
              </a:spcBef>
              <a:buClr>
                <a:srgbClr val="C00000"/>
              </a:buClr>
              <a:buAutoNum type="arabicPeriod"/>
              <a:tabLst>
                <a:tab pos="360680" algn="l"/>
              </a:tabLst>
            </a:pPr>
            <a:r>
              <a:rPr sz="1850" spc="-10" dirty="0">
                <a:solidFill>
                  <a:srgbClr val="404040"/>
                </a:solidFill>
                <a:latin typeface="Times New Roman"/>
                <a:cs typeface="Times New Roman"/>
              </a:rPr>
              <a:t>Overview</a:t>
            </a:r>
            <a:endParaRPr sz="1850">
              <a:latin typeface="Times New Roman"/>
              <a:cs typeface="Times New Roman"/>
            </a:endParaRPr>
          </a:p>
          <a:p>
            <a:pPr marL="830580" lvl="1" indent="-36068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AutoNum type="arabicPeriod"/>
              <a:tabLst>
                <a:tab pos="830580" algn="l"/>
              </a:tabLst>
            </a:pPr>
            <a:r>
              <a:rPr sz="1850" spc="-10" dirty="0">
                <a:solidFill>
                  <a:srgbClr val="404040"/>
                </a:solidFill>
                <a:latin typeface="Times New Roman"/>
                <a:cs typeface="Times New Roman"/>
              </a:rPr>
              <a:t>Purpose</a:t>
            </a:r>
            <a:endParaRPr sz="18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495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sz="2150" dirty="0">
                <a:solidFill>
                  <a:srgbClr val="404040"/>
                </a:solidFill>
                <a:latin typeface="Times New Roman"/>
                <a:cs typeface="Times New Roman"/>
              </a:rPr>
              <a:t>Literature</a:t>
            </a:r>
            <a:r>
              <a:rPr sz="2150" spc="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404040"/>
                </a:solidFill>
                <a:latin typeface="Times New Roman"/>
                <a:cs typeface="Times New Roman"/>
              </a:rPr>
              <a:t>Review</a:t>
            </a:r>
            <a:endParaRPr sz="21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sz="2150" dirty="0">
                <a:solidFill>
                  <a:srgbClr val="404040"/>
                </a:solidFill>
                <a:latin typeface="Times New Roman"/>
                <a:cs typeface="Times New Roman"/>
              </a:rPr>
              <a:t>Problem</a:t>
            </a:r>
            <a:r>
              <a:rPr sz="2150" spc="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404040"/>
                </a:solidFill>
                <a:latin typeface="Times New Roman"/>
                <a:cs typeface="Times New Roman"/>
              </a:rPr>
              <a:t>Statement</a:t>
            </a:r>
            <a:endParaRPr sz="21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505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sz="2150" dirty="0">
                <a:solidFill>
                  <a:srgbClr val="404040"/>
                </a:solidFill>
                <a:latin typeface="Times New Roman"/>
                <a:cs typeface="Times New Roman"/>
              </a:rPr>
              <a:t>Proposed</a:t>
            </a:r>
            <a:r>
              <a:rPr sz="2150" spc="8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404040"/>
                </a:solidFill>
                <a:latin typeface="Times New Roman"/>
                <a:cs typeface="Times New Roman"/>
              </a:rPr>
              <a:t>Solution</a:t>
            </a:r>
            <a:endParaRPr sz="21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sz="2150" spc="-10" dirty="0">
                <a:solidFill>
                  <a:srgbClr val="404040"/>
                </a:solidFill>
                <a:latin typeface="Times New Roman"/>
                <a:cs typeface="Times New Roman"/>
              </a:rPr>
              <a:t>Objectives</a:t>
            </a:r>
            <a:endParaRPr sz="2150">
              <a:latin typeface="Times New Roman"/>
              <a:cs typeface="Times New Roman"/>
            </a:endParaRPr>
          </a:p>
          <a:p>
            <a:pPr marL="469265" indent="-456565">
              <a:lnSpc>
                <a:spcPct val="100000"/>
              </a:lnSpc>
              <a:spcBef>
                <a:spcPts val="490"/>
              </a:spcBef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sz="2150" dirty="0">
                <a:solidFill>
                  <a:srgbClr val="404040"/>
                </a:solidFill>
                <a:latin typeface="Times New Roman"/>
                <a:cs typeface="Times New Roman"/>
              </a:rPr>
              <a:t>Theoretical</a:t>
            </a:r>
            <a:r>
              <a:rPr sz="215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150" spc="-10" dirty="0">
                <a:solidFill>
                  <a:srgbClr val="404040"/>
                </a:solidFill>
                <a:latin typeface="Times New Roman"/>
                <a:cs typeface="Times New Roman"/>
              </a:rPr>
              <a:t>Analysis</a:t>
            </a:r>
            <a:endParaRPr sz="2150">
              <a:latin typeface="Times New Roman"/>
              <a:cs typeface="Times New Roman"/>
            </a:endParaRPr>
          </a:p>
          <a:p>
            <a:pPr marL="830580" lvl="1" indent="-360680">
              <a:lnSpc>
                <a:spcPct val="100000"/>
              </a:lnSpc>
              <a:spcBef>
                <a:spcPts val="720"/>
              </a:spcBef>
              <a:buClr>
                <a:srgbClr val="C00000"/>
              </a:buClr>
              <a:buAutoNum type="arabicPeriod"/>
              <a:tabLst>
                <a:tab pos="830580" algn="l"/>
              </a:tabLst>
            </a:pPr>
            <a:r>
              <a:rPr sz="1850" dirty="0">
                <a:solidFill>
                  <a:srgbClr val="404040"/>
                </a:solidFill>
                <a:latin typeface="Times New Roman"/>
                <a:cs typeface="Times New Roman"/>
              </a:rPr>
              <a:t>Block</a:t>
            </a:r>
            <a:r>
              <a:rPr sz="1850" spc="7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404040"/>
                </a:solidFill>
                <a:latin typeface="Times New Roman"/>
                <a:cs typeface="Times New Roman"/>
              </a:rPr>
              <a:t>Diagram</a:t>
            </a:r>
            <a:endParaRPr sz="1850">
              <a:latin typeface="Times New Roman"/>
              <a:cs typeface="Times New Roman"/>
            </a:endParaRPr>
          </a:p>
          <a:p>
            <a:pPr marL="830580" lvl="1" indent="-36068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AutoNum type="arabicPeriod"/>
              <a:tabLst>
                <a:tab pos="830580" algn="l"/>
              </a:tabLst>
            </a:pPr>
            <a:r>
              <a:rPr sz="1850" dirty="0">
                <a:solidFill>
                  <a:srgbClr val="404040"/>
                </a:solidFill>
                <a:latin typeface="Times New Roman"/>
                <a:cs typeface="Times New Roman"/>
              </a:rPr>
              <a:t>Hardware</a:t>
            </a:r>
            <a:r>
              <a:rPr sz="1850" spc="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404040"/>
                </a:solidFill>
                <a:latin typeface="Times New Roman"/>
                <a:cs typeface="Times New Roman"/>
              </a:rPr>
              <a:t>Requirements</a:t>
            </a:r>
            <a:endParaRPr sz="1850">
              <a:latin typeface="Times New Roman"/>
              <a:cs typeface="Times New Roman"/>
            </a:endParaRPr>
          </a:p>
          <a:p>
            <a:pPr marL="830580" lvl="1" indent="-36068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AutoNum type="arabicPeriod"/>
              <a:tabLst>
                <a:tab pos="830580" algn="l"/>
              </a:tabLst>
            </a:pPr>
            <a:r>
              <a:rPr sz="1850" dirty="0">
                <a:solidFill>
                  <a:srgbClr val="404040"/>
                </a:solidFill>
                <a:latin typeface="Times New Roman"/>
                <a:cs typeface="Times New Roman"/>
              </a:rPr>
              <a:t>Software</a:t>
            </a:r>
            <a:r>
              <a:rPr sz="1850" spc="1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solidFill>
                  <a:srgbClr val="404040"/>
                </a:solidFill>
                <a:latin typeface="Times New Roman"/>
                <a:cs typeface="Times New Roman"/>
              </a:rPr>
              <a:t>Requirements</a:t>
            </a:r>
            <a:endParaRPr sz="1850">
              <a:latin typeface="Times New Roman"/>
              <a:cs typeface="Times New Roman"/>
            </a:endParaRPr>
          </a:p>
          <a:p>
            <a:pPr marL="12700" marR="1278890" indent="456565">
              <a:lnSpc>
                <a:spcPts val="3070"/>
              </a:lnSpc>
              <a:buClr>
                <a:srgbClr val="A32E0E"/>
              </a:buClr>
              <a:buAutoNum type="arabicPeriod"/>
              <a:tabLst>
                <a:tab pos="469265" algn="l"/>
              </a:tabLst>
            </a:pPr>
            <a:r>
              <a:rPr sz="2150" spc="-20" dirty="0">
                <a:solidFill>
                  <a:srgbClr val="404040"/>
                </a:solidFill>
                <a:latin typeface="Times New Roman"/>
                <a:cs typeface="Times New Roman"/>
              </a:rPr>
              <a:t>Applications </a:t>
            </a:r>
            <a:r>
              <a:rPr sz="2150" spc="-10" dirty="0">
                <a:solidFill>
                  <a:srgbClr val="404040"/>
                </a:solidFill>
                <a:latin typeface="Times New Roman"/>
                <a:cs typeface="Times New Roman"/>
              </a:rPr>
              <a:t>REFERENCES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1.</a:t>
            </a:r>
            <a:r>
              <a:rPr spc="-20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70280" y="1326951"/>
            <a:ext cx="10090150" cy="430593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367665" indent="-34290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367665" algn="l"/>
              </a:tabLst>
            </a:pP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Overview</a:t>
            </a:r>
            <a:endParaRPr sz="1800">
              <a:latin typeface="Times New Roman"/>
              <a:cs typeface="Times New Roman"/>
            </a:endParaRPr>
          </a:p>
          <a:p>
            <a:pPr marL="24765" marR="5080">
              <a:lnSpc>
                <a:spcPct val="80000"/>
              </a:lnSpc>
              <a:spcBef>
                <a:spcPts val="1110"/>
              </a:spcBef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As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cities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grow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population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number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vehicles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India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spikes,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space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has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turned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into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serious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challenge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authorities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citizens,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making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challenge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multifaceted.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On-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street</a:t>
            </a:r>
            <a:r>
              <a:rPr sz="1600" spc="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space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limited,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and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continuous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search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free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spots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creates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traffic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environmental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issues.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problem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user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frustration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gets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compounded.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Smart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Vehicle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App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solves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this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problem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monitor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open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parking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spaces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users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reserve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access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facilities.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enables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lot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administrators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1600">
              <a:latin typeface="Arial MT"/>
              <a:cs typeface="Arial MT"/>
            </a:endParaRPr>
          </a:p>
          <a:p>
            <a:pPr marL="367665" indent="-342900">
              <a:lnSpc>
                <a:spcPct val="100000"/>
              </a:lnSpc>
              <a:buAutoNum type="arabicPeriod" startAt="2"/>
              <a:tabLst>
                <a:tab pos="367665" algn="l"/>
              </a:tabLst>
            </a:pPr>
            <a:r>
              <a:rPr sz="1800" spc="-10" dirty="0">
                <a:latin typeface="Times New Roman"/>
                <a:cs typeface="Times New Roman"/>
              </a:rPr>
              <a:t>Purpose</a:t>
            </a:r>
            <a:endParaRPr sz="1800">
              <a:latin typeface="Times New Roman"/>
              <a:cs typeface="Times New Roman"/>
            </a:endParaRPr>
          </a:p>
          <a:p>
            <a:pPr marL="24765" marR="901700">
              <a:lnSpc>
                <a:spcPts val="1540"/>
              </a:lnSpc>
              <a:spcBef>
                <a:spcPts val="1000"/>
              </a:spcBef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primary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goal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this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project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is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create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smart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easy-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to-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use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management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system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that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benefits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both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administrators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citizens.These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are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following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purposes:</a:t>
            </a:r>
            <a:endParaRPr sz="1600">
              <a:latin typeface="Arial MT"/>
              <a:cs typeface="Arial MT"/>
            </a:endParaRPr>
          </a:p>
          <a:p>
            <a:pPr marL="367665" marR="872490" lvl="1" indent="-343535">
              <a:lnSpc>
                <a:spcPts val="1540"/>
              </a:lnSpc>
              <a:spcBef>
                <a:spcPts val="990"/>
              </a:spcBef>
              <a:buAutoNum type="arabicPeriod"/>
              <a:tabLst>
                <a:tab pos="3676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administrators,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objective</a:t>
            </a:r>
            <a:r>
              <a:rPr sz="1600" spc="-7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is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manage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lots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efficiently,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monitor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occupancy,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earn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revenue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through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optimal</a:t>
            </a:r>
            <a:r>
              <a:rPr sz="16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utilization</a:t>
            </a:r>
            <a:r>
              <a:rPr sz="1600" spc="-7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available</a:t>
            </a:r>
            <a:r>
              <a:rPr sz="1600" spc="-9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space</a:t>
            </a:r>
            <a:endParaRPr sz="1600">
              <a:latin typeface="Arial MT"/>
              <a:cs typeface="Arial MT"/>
            </a:endParaRPr>
          </a:p>
          <a:p>
            <a:pPr marL="367665" marR="259715" lvl="1" indent="-343535">
              <a:lnSpc>
                <a:spcPct val="79400"/>
              </a:lnSpc>
              <a:spcBef>
                <a:spcPts val="1025"/>
              </a:spcBef>
              <a:buAutoNum type="arabicPeriod"/>
              <a:tabLst>
                <a:tab pos="367665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users,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objective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is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offer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easy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method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reserve,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occupy,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vacate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spaces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without inconvenience.</a:t>
            </a:r>
            <a:r>
              <a:rPr sz="16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marL="12700" marR="399415" lvl="1" indent="254000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112500"/>
              <a:buAutoNum type="arabicPeriod"/>
              <a:tabLst>
                <a:tab pos="266700" algn="l"/>
              </a:tabLst>
            </a:pP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By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minimizing</a:t>
            </a:r>
            <a:r>
              <a:rPr sz="16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search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time,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managing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congestion,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providing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fair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pricing,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project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aims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make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city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more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structured,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transparent,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sustainable.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2909" rIns="0" bIns="0" rtlCol="0">
            <a:spAutoFit/>
          </a:bodyPr>
          <a:lstStyle/>
          <a:p>
            <a:pPr marL="707390">
              <a:lnSpc>
                <a:spcPct val="100000"/>
              </a:lnSpc>
              <a:spcBef>
                <a:spcPts val="95"/>
              </a:spcBef>
            </a:pPr>
            <a:r>
              <a:rPr dirty="0"/>
              <a:t>3.</a:t>
            </a:r>
            <a:r>
              <a:rPr spc="-60" dirty="0"/>
              <a:t> </a:t>
            </a:r>
            <a:r>
              <a:rPr dirty="0"/>
              <a:t>Problem</a:t>
            </a:r>
            <a:r>
              <a:rPr spc="3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315338" y="1907870"/>
            <a:ext cx="9077325" cy="24498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0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infrastructure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technology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already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exist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across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Indian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cities,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though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most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lack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simplicity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accessibility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central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our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proposed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web-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based</a:t>
            </a:r>
            <a:r>
              <a:rPr sz="1800" spc="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system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and</a:t>
            </a:r>
            <a:r>
              <a:rPr sz="20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therefore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have</a:t>
            </a:r>
            <a:r>
              <a:rPr sz="2000" spc="-1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404040"/>
                </a:solidFill>
                <a:latin typeface="Times New Roman"/>
                <a:cs typeface="Times New Roman"/>
              </a:rPr>
              <a:t>several</a:t>
            </a:r>
            <a:r>
              <a:rPr sz="20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Times New Roman"/>
                <a:cs typeface="Times New Roman"/>
              </a:rPr>
              <a:t>limitations: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0"/>
              </a:spcBef>
            </a:pP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Font typeface="Times New Roman"/>
              <a:buAutoNum type="arabicPeriod"/>
              <a:tabLst>
                <a:tab pos="2413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No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web-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based</a:t>
            </a:r>
            <a:r>
              <a:rPr sz="1800" spc="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booking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system,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heavily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reliant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on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costly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physical</a:t>
            </a:r>
            <a:r>
              <a:rPr sz="1800" spc="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infrastructure.</a:t>
            </a:r>
            <a:endParaRPr sz="1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025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No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dynamic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pricing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or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web-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based</a:t>
            </a:r>
            <a:r>
              <a:rPr sz="1800" spc="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reservation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system,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hardware</a:t>
            </a:r>
            <a:r>
              <a:rPr sz="1800" spc="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intensive.</a:t>
            </a:r>
            <a:endParaRPr sz="1800">
              <a:latin typeface="Arial MT"/>
              <a:cs typeface="Arial MT"/>
            </a:endParaRPr>
          </a:p>
          <a:p>
            <a:pPr marL="241300" indent="-228600">
              <a:lnSpc>
                <a:spcPct val="100000"/>
              </a:lnSpc>
              <a:spcBef>
                <a:spcPts val="1020"/>
              </a:spcBef>
              <a:buFont typeface="Times New Roman"/>
              <a:buAutoNum type="arabicPeriod"/>
              <a:tabLst>
                <a:tab pos="241300" algn="l"/>
              </a:tabLst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Absence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user-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friendly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booking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dashboard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drive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usage.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50" dirty="0"/>
              <a:t> </a:t>
            </a:r>
            <a:r>
              <a:rPr dirty="0"/>
              <a:t>Proposed</a:t>
            </a:r>
            <a:r>
              <a:rPr spc="1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834644" y="1290574"/>
            <a:ext cx="10118090" cy="470979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8419">
              <a:lnSpc>
                <a:spcPts val="1989"/>
              </a:lnSpc>
              <a:spcBef>
                <a:spcPts val="210"/>
              </a:spcBef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proposed</a:t>
            </a:r>
            <a:r>
              <a:rPr sz="1700" spc="-7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solution</a:t>
            </a:r>
            <a:r>
              <a:rPr sz="1700" spc="-4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700" spc="-8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700" spc="-6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project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follows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systematic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flow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operations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between</a:t>
            </a:r>
            <a:r>
              <a:rPr sz="17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Admin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User,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ensuring</a:t>
            </a:r>
            <a:r>
              <a:rPr sz="17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smooth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management</a:t>
            </a:r>
            <a:r>
              <a:rPr sz="17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lots</a:t>
            </a:r>
            <a:r>
              <a:rPr sz="17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spots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platform</a:t>
            </a:r>
            <a:r>
              <a:rPr sz="17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will</a:t>
            </a:r>
            <a:r>
              <a:rPr sz="17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include</a:t>
            </a:r>
            <a:r>
              <a:rPr sz="1700" spc="-5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the</a:t>
            </a:r>
            <a:r>
              <a:rPr sz="1700" spc="-10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dirty="0">
                <a:solidFill>
                  <a:srgbClr val="404040"/>
                </a:solidFill>
                <a:latin typeface="Times New Roman"/>
                <a:cs typeface="Times New Roman"/>
              </a:rPr>
              <a:t>following</a:t>
            </a:r>
            <a:r>
              <a:rPr sz="1700" spc="-5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Times New Roman"/>
                <a:cs typeface="Times New Roman"/>
              </a:rPr>
              <a:t>features:</a:t>
            </a:r>
            <a:endParaRPr sz="1700">
              <a:latin typeface="Times New Roman"/>
              <a:cs typeface="Times New Roman"/>
            </a:endParaRPr>
          </a:p>
          <a:p>
            <a:pPr marL="551180" indent="-165100">
              <a:lnSpc>
                <a:spcPct val="100000"/>
              </a:lnSpc>
              <a:spcBef>
                <a:spcPts val="994"/>
              </a:spcBef>
              <a:buSzPct val="88888"/>
              <a:buAutoNum type="arabicPeriod"/>
              <a:tabLst>
                <a:tab pos="551180" algn="l"/>
              </a:tabLst>
            </a:pPr>
            <a:r>
              <a:rPr sz="1800" b="1" dirty="0">
                <a:latin typeface="Times New Roman"/>
                <a:cs typeface="Times New Roman"/>
              </a:rPr>
              <a:t>User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Registration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&amp;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Login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Users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can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register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with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name,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email,</a:t>
            </a:r>
            <a:r>
              <a:rPr sz="17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password.</a:t>
            </a:r>
            <a:r>
              <a:rPr sz="17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Users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can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log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in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to</a:t>
            </a:r>
            <a:endParaRPr sz="1700">
              <a:latin typeface="Arial MT"/>
              <a:cs typeface="Arial MT"/>
            </a:endParaRPr>
          </a:p>
          <a:p>
            <a:pPr marL="551815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access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7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dashboard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404040"/>
                </a:solidFill>
                <a:latin typeface="Times New Roman"/>
                <a:cs typeface="Times New Roman"/>
              </a:rPr>
              <a:t>Profile</a:t>
            </a:r>
            <a:r>
              <a:rPr sz="1700" b="1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700" b="1" spc="-10" dirty="0">
                <a:solidFill>
                  <a:srgbClr val="404040"/>
                </a:solidFill>
                <a:latin typeface="Times New Roman"/>
                <a:cs typeface="Times New Roman"/>
              </a:rPr>
              <a:t>Management.</a:t>
            </a: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700">
              <a:latin typeface="Times New Roman"/>
              <a:cs typeface="Times New Roman"/>
            </a:endParaRPr>
          </a:p>
          <a:p>
            <a:pPr marL="550545" marR="413384" indent="-165100">
              <a:lnSpc>
                <a:spcPct val="100600"/>
              </a:lnSpc>
              <a:buSzPct val="88888"/>
              <a:buAutoNum type="arabicPeriod" startAt="2"/>
              <a:tabLst>
                <a:tab pos="551815" algn="l"/>
              </a:tabLst>
            </a:pPr>
            <a:r>
              <a:rPr sz="1800" b="1" dirty="0">
                <a:latin typeface="Times New Roman"/>
                <a:cs typeface="Times New Roman"/>
              </a:rPr>
              <a:t>Parking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Spot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Booking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Logged-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users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can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view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available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lots,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book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available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spot,</a:t>
            </a:r>
            <a:r>
              <a:rPr sz="16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and 	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release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it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when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done.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system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calculates</a:t>
            </a:r>
            <a:r>
              <a:rPr sz="16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total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cost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based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on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hours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parked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2"/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buFont typeface="Times New Roman"/>
              <a:buAutoNum type="arabicPeriod" startAt="2"/>
            </a:pPr>
            <a:endParaRPr sz="1600">
              <a:latin typeface="Arial MT"/>
              <a:cs typeface="Arial MT"/>
            </a:endParaRPr>
          </a:p>
          <a:p>
            <a:pPr marL="550545" marR="41910" indent="-165100">
              <a:lnSpc>
                <a:spcPct val="100499"/>
              </a:lnSpc>
              <a:buSzPct val="88888"/>
              <a:buAutoNum type="arabicPeriod" startAt="2"/>
              <a:tabLst>
                <a:tab pos="551815" algn="l"/>
              </a:tabLst>
            </a:pPr>
            <a:r>
              <a:rPr sz="1800" b="1" dirty="0">
                <a:latin typeface="Times New Roman"/>
                <a:cs typeface="Times New Roman"/>
              </a:rPr>
              <a:t>Admin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Dashboard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Admin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can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create,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edit,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delete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lots.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Lot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can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delete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only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if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all 	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spots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in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lot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are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empty.</a:t>
            </a:r>
            <a:r>
              <a:rPr sz="16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each</a:t>
            </a:r>
            <a:r>
              <a:rPr sz="16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lot,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they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can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manage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number</a:t>
            </a:r>
            <a:r>
              <a:rPr sz="16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6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spots</a:t>
            </a:r>
            <a:r>
              <a:rPr sz="16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6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404040"/>
                </a:solidFill>
                <a:latin typeface="Arial MT"/>
                <a:cs typeface="Arial MT"/>
              </a:rPr>
              <a:t>view</a:t>
            </a:r>
            <a:r>
              <a:rPr sz="16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404040"/>
                </a:solidFill>
                <a:latin typeface="Arial MT"/>
                <a:cs typeface="Arial MT"/>
              </a:rPr>
              <a:t>detailed 	information.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Times New Roman"/>
              <a:buAutoNum type="arabicPeriod" startAt="2"/>
            </a:pP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25"/>
              </a:spcBef>
              <a:buFont typeface="Times New Roman"/>
              <a:buAutoNum type="arabicPeriod" startAt="2"/>
            </a:pPr>
            <a:endParaRPr sz="1600">
              <a:latin typeface="Arial MT"/>
              <a:cs typeface="Arial MT"/>
            </a:endParaRPr>
          </a:p>
          <a:p>
            <a:pPr marL="551180" indent="-165100">
              <a:lnSpc>
                <a:spcPct val="100000"/>
              </a:lnSpc>
              <a:buSzPct val="88888"/>
              <a:buAutoNum type="arabicPeriod" startAt="2"/>
              <a:tabLst>
                <a:tab pos="551180" algn="l"/>
              </a:tabLst>
            </a:pPr>
            <a:r>
              <a:rPr sz="1800" b="1" dirty="0">
                <a:latin typeface="Times New Roman"/>
                <a:cs typeface="Times New Roman"/>
              </a:rPr>
              <a:t>Booking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History: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Users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can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view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their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full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booking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history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along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with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duration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charges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84" rIns="0" bIns="0" rtlCol="0">
            <a:spAutoFit/>
          </a:bodyPr>
          <a:lstStyle/>
          <a:p>
            <a:pPr marL="254635">
              <a:lnSpc>
                <a:spcPct val="100000"/>
              </a:lnSpc>
              <a:spcBef>
                <a:spcPts val="95"/>
              </a:spcBef>
            </a:pPr>
            <a:r>
              <a:rPr dirty="0"/>
              <a:t>4.</a:t>
            </a:r>
            <a:r>
              <a:rPr spc="-50" dirty="0"/>
              <a:t> </a:t>
            </a:r>
            <a:r>
              <a:rPr dirty="0"/>
              <a:t>Proposed</a:t>
            </a:r>
            <a:r>
              <a:rPr spc="15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1277874" y="1465579"/>
            <a:ext cx="9349740" cy="268287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234315">
              <a:lnSpc>
                <a:spcPct val="100699"/>
              </a:lnSpc>
              <a:spcBef>
                <a:spcPts val="85"/>
              </a:spcBef>
              <a:buAutoNum type="arabicPeriod" startAt="5"/>
              <a:tabLst>
                <a:tab pos="247015" algn="l"/>
              </a:tabLst>
            </a:pPr>
            <a:r>
              <a:rPr sz="1800" b="1" dirty="0">
                <a:latin typeface="Times New Roman"/>
                <a:cs typeface="Times New Roman"/>
              </a:rPr>
              <a:t>Charts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Analytics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Admins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can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view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bar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charts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available</a:t>
            </a:r>
            <a:r>
              <a:rPr sz="17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occupied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spots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across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lots.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Users</a:t>
            </a:r>
            <a:r>
              <a:rPr sz="17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get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insights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like</a:t>
            </a:r>
            <a:r>
              <a:rPr sz="17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most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visited</a:t>
            </a:r>
            <a:r>
              <a:rPr sz="17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locations,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total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hours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parked,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amount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spent.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AutoNum type="arabicPeriod" startAt="5"/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AutoNum type="arabicPeriod" startAt="5"/>
            </a:pPr>
            <a:endParaRPr sz="1700">
              <a:latin typeface="Arial MT"/>
              <a:cs typeface="Arial MT"/>
            </a:endParaRPr>
          </a:p>
          <a:p>
            <a:pPr marL="12700" marR="487045" indent="-7620">
              <a:lnSpc>
                <a:spcPct val="100000"/>
              </a:lnSpc>
              <a:buSzPct val="80555"/>
              <a:buFont typeface="Arial"/>
              <a:buAutoNum type="arabicPeriod" startAt="5"/>
              <a:tabLst>
                <a:tab pos="181610" algn="l"/>
              </a:tabLst>
            </a:pPr>
            <a:r>
              <a:rPr sz="1800" b="1" dirty="0">
                <a:latin typeface="Times New Roman"/>
                <a:cs typeface="Times New Roman"/>
              </a:rPr>
              <a:t>Search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Features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Admins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can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search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spots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by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lot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name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or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spot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ID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view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the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current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booking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user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if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occupied.</a:t>
            </a: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AutoNum type="arabicPeriod" startAt="5"/>
            </a:pPr>
            <a:endParaRPr sz="1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AutoNum type="arabicPeriod" startAt="5"/>
            </a:pPr>
            <a:endParaRPr sz="1700">
              <a:latin typeface="Arial MT"/>
              <a:cs typeface="Arial MT"/>
            </a:endParaRPr>
          </a:p>
          <a:p>
            <a:pPr marL="201930" indent="-198120">
              <a:lnSpc>
                <a:spcPct val="100000"/>
              </a:lnSpc>
              <a:buSzPct val="91666"/>
              <a:buFont typeface="Arial"/>
              <a:buAutoNum type="arabicPeriod" startAt="5"/>
              <a:tabLst>
                <a:tab pos="201930" algn="l"/>
              </a:tabLst>
            </a:pPr>
            <a:r>
              <a:rPr sz="1800" b="1" dirty="0">
                <a:latin typeface="Times New Roman"/>
                <a:cs typeface="Times New Roman"/>
              </a:rPr>
              <a:t>Security: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Session-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based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access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control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is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implemented</a:t>
            </a:r>
            <a:r>
              <a:rPr sz="1800" spc="-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restrict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views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to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respective</a:t>
            </a:r>
            <a:r>
              <a:rPr sz="1800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roles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 (admin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404040"/>
                </a:solidFill>
                <a:latin typeface="Times New Roman"/>
                <a:cs typeface="Times New Roman"/>
              </a:rPr>
              <a:t>or</a:t>
            </a:r>
            <a:r>
              <a:rPr sz="1800" spc="-1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Times New Roman"/>
                <a:cs typeface="Times New Roman"/>
              </a:rPr>
              <a:t>user).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2909" rIns="0" bIns="0" rtlCol="0">
            <a:spAutoFit/>
          </a:bodyPr>
          <a:lstStyle/>
          <a:p>
            <a:pPr marL="707390">
              <a:lnSpc>
                <a:spcPct val="100000"/>
              </a:lnSpc>
              <a:spcBef>
                <a:spcPts val="95"/>
              </a:spcBef>
            </a:pPr>
            <a:r>
              <a:rPr dirty="0"/>
              <a:t>5.</a:t>
            </a:r>
            <a:r>
              <a:rPr spc="-2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096516" y="1918563"/>
            <a:ext cx="8505825" cy="306006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215"/>
              </a:spcBef>
            </a:pP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primary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objectives</a:t>
            </a:r>
            <a:r>
              <a:rPr sz="1700" spc="4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the project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are</a:t>
            </a:r>
            <a:r>
              <a:rPr sz="17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50" dirty="0">
                <a:solidFill>
                  <a:srgbClr val="404040"/>
                </a:solidFill>
                <a:latin typeface="Arial MT"/>
                <a:cs typeface="Arial MT"/>
              </a:rPr>
              <a:t>:</a:t>
            </a:r>
            <a:endParaRPr sz="1700">
              <a:latin typeface="Arial MT"/>
              <a:cs typeface="Arial MT"/>
            </a:endParaRPr>
          </a:p>
          <a:p>
            <a:pPr marL="12700" marR="1050290" indent="-3175">
              <a:lnSpc>
                <a:spcPct val="100000"/>
              </a:lnSpc>
              <a:spcBef>
                <a:spcPts val="1115"/>
              </a:spcBef>
              <a:buSzPct val="94117"/>
              <a:buFont typeface="Arial"/>
              <a:buAutoNum type="arabicPeriod"/>
              <a:tabLst>
                <a:tab pos="192405" algn="l"/>
              </a:tabLst>
            </a:pP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	The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primary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goal</a:t>
            </a:r>
            <a:r>
              <a:rPr sz="17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7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this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project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is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create a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smart</a:t>
            </a:r>
            <a:r>
              <a:rPr sz="17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easy-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to-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use</a:t>
            </a:r>
            <a:r>
              <a:rPr sz="1700" spc="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parking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management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system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that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benefits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both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administrators</a:t>
            </a:r>
            <a:r>
              <a:rPr sz="1700" spc="-6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citizens.</a:t>
            </a:r>
            <a:endParaRPr sz="1700">
              <a:latin typeface="Arial MT"/>
              <a:cs typeface="Arial MT"/>
            </a:endParaRPr>
          </a:p>
          <a:p>
            <a:pPr marL="191135" indent="-182245">
              <a:lnSpc>
                <a:spcPct val="100000"/>
              </a:lnSpc>
              <a:spcBef>
                <a:spcPts val="1105"/>
              </a:spcBef>
              <a:buSzPct val="94117"/>
              <a:buFont typeface="Arial"/>
              <a:buAutoNum type="arabicPeriod"/>
              <a:tabLst>
                <a:tab pos="191135" algn="l"/>
              </a:tabLst>
            </a:pP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administrators,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objective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is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manage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lots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efficiently,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 monitor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occupancy,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earn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revenue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through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optimal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utilization</a:t>
            </a:r>
            <a:r>
              <a:rPr sz="17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7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available</a:t>
            </a:r>
            <a:r>
              <a:rPr sz="17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space.</a:t>
            </a:r>
            <a:endParaRPr sz="1700">
              <a:latin typeface="Arial MT"/>
              <a:cs typeface="Arial MT"/>
            </a:endParaRPr>
          </a:p>
          <a:p>
            <a:pPr marL="12700" marR="494030" indent="-3810">
              <a:lnSpc>
                <a:spcPct val="100000"/>
              </a:lnSpc>
              <a:spcBef>
                <a:spcPts val="1105"/>
              </a:spcBef>
              <a:buSzPct val="94117"/>
              <a:buFont typeface="Arial"/>
              <a:buAutoNum type="arabicPeriod" startAt="3"/>
              <a:tabLst>
                <a:tab pos="191770" algn="l"/>
              </a:tabLst>
            </a:pP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	For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users,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objective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is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offer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easy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method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reserve,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occupy,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vacate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7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spaces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without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inconvenience.</a:t>
            </a:r>
            <a:endParaRPr sz="1700">
              <a:latin typeface="Arial MT"/>
              <a:cs typeface="Arial MT"/>
            </a:endParaRPr>
          </a:p>
          <a:p>
            <a:pPr marL="191770" indent="-182880">
              <a:lnSpc>
                <a:spcPct val="100000"/>
              </a:lnSpc>
              <a:spcBef>
                <a:spcPts val="1090"/>
              </a:spcBef>
              <a:buSzPct val="94117"/>
              <a:buFont typeface="Arial"/>
              <a:buAutoNum type="arabicPeriod" startAt="3"/>
              <a:tabLst>
                <a:tab pos="191770" algn="l"/>
              </a:tabLst>
            </a:pP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By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minimizing</a:t>
            </a:r>
            <a:r>
              <a:rPr sz="1700" spc="-6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search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time,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managing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congestion,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providing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fair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pricing,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the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project</a:t>
            </a:r>
            <a:endParaRPr sz="1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aims</a:t>
            </a:r>
            <a:r>
              <a:rPr sz="17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7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make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city</a:t>
            </a:r>
            <a:r>
              <a:rPr sz="17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7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more</a:t>
            </a:r>
            <a:r>
              <a:rPr sz="17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structured,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transparent,</a:t>
            </a:r>
            <a:r>
              <a:rPr sz="17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7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sustainable.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85" dirty="0"/>
              <a:t> </a:t>
            </a:r>
            <a:r>
              <a:rPr dirty="0"/>
              <a:t>Theoretical</a:t>
            </a:r>
            <a:r>
              <a:rPr spc="-12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4644" y="1584705"/>
            <a:ext cx="2338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6.1</a:t>
            </a:r>
            <a:r>
              <a:rPr sz="2400" spc="-2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Block</a:t>
            </a:r>
            <a:r>
              <a:rPr sz="2400" spc="-3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Diagram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81200" y="2228850"/>
            <a:ext cx="8001000" cy="4276725"/>
            <a:chOff x="1981200" y="2228850"/>
            <a:chExt cx="8001000" cy="4276725"/>
          </a:xfrm>
        </p:grpSpPr>
        <p:pic>
          <p:nvPicPr>
            <p:cNvPr id="5" name="object 5" descr="A diagram of a program  AI-generated content may be incorrect.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1200" y="2228850"/>
              <a:ext cx="7886700" cy="42767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200" y="2228850"/>
              <a:ext cx="8001000" cy="4276725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95"/>
              </a:spcBef>
            </a:pPr>
            <a:r>
              <a:rPr dirty="0"/>
              <a:t>6.</a:t>
            </a:r>
            <a:r>
              <a:rPr spc="-110" dirty="0"/>
              <a:t> </a:t>
            </a:r>
            <a:r>
              <a:rPr dirty="0"/>
              <a:t>Theoretical</a:t>
            </a:r>
            <a:r>
              <a:rPr spc="-13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623293" y="6367972"/>
            <a:ext cx="306070" cy="32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000" spc="25" dirty="0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0688" y="1966416"/>
            <a:ext cx="34270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6.2</a:t>
            </a:r>
            <a:r>
              <a:rPr sz="24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Hardware</a:t>
            </a:r>
            <a:r>
              <a:rPr sz="2400" spc="-65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49729" y="2551302"/>
          <a:ext cx="8218805" cy="3046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41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20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Component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Specification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0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Server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RAM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Minimum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16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GB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524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Server</a:t>
                      </a:r>
                      <a:r>
                        <a:rPr sz="1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CPU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4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Quad/Octa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,2.4</a:t>
                      </a:r>
                      <a:r>
                        <a:rPr sz="18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3.0+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GHz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65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209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Storage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256GB –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1TB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SSD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3580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61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Client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Hardware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44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587375">
                        <a:lnSpc>
                          <a:spcPct val="101099"/>
                        </a:lnSpc>
                        <a:spcBef>
                          <a:spcPts val="38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Minimal</a:t>
                      </a:r>
                      <a:r>
                        <a:rPr sz="1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requirements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computer,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laptop,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mobile</a:t>
                      </a:r>
                      <a:r>
                        <a:rPr sz="1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device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2945"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62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Browser</a:t>
                      </a:r>
                      <a:r>
                        <a:rPr sz="1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Support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057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6520" marR="494030">
                        <a:lnSpc>
                          <a:spcPct val="101099"/>
                        </a:lnSpc>
                        <a:spcBef>
                          <a:spcPts val="39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Modern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browser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Chrome,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Firefox,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Edge,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Safari)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95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90901" y="225044"/>
            <a:ext cx="4168140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2.</a:t>
            </a:r>
            <a:r>
              <a:rPr spc="-35" dirty="0"/>
              <a:t> </a:t>
            </a:r>
            <a:r>
              <a:rPr dirty="0"/>
              <a:t>Literature</a:t>
            </a:r>
            <a:r>
              <a:rPr spc="45" dirty="0"/>
              <a:t> </a:t>
            </a:r>
            <a:r>
              <a:rPr spc="-10" dirty="0"/>
              <a:t>Review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9705">
              <a:lnSpc>
                <a:spcPts val="2380"/>
              </a:lnSpc>
            </a:pPr>
            <a:fld id="{81D60167-4931-47E6-BA6A-407CBD079E47}" type="slidenum">
              <a:rPr spc="-50" dirty="0"/>
              <a:t>10</a:t>
            </a:fld>
            <a:endParaRPr spc="-50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82803" y="1175892"/>
          <a:ext cx="11461749" cy="48463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7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57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1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Sr.</a:t>
                      </a:r>
                      <a:r>
                        <a:rPr sz="1800" b="1" spc="-13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No.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32E0E"/>
                    </a:solidFill>
                  </a:tcPr>
                </a:tc>
                <a:tc>
                  <a:txBody>
                    <a:bodyPr/>
                    <a:lstStyle/>
                    <a:p>
                      <a:pPr marL="123317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8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Author</a:t>
                      </a:r>
                      <a:r>
                        <a:rPr sz="1800" b="1" spc="-7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Name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32E0E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Features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32E0E"/>
                    </a:solidFill>
                  </a:tcPr>
                </a:tc>
                <a:tc>
                  <a:txBody>
                    <a:bodyPr/>
                    <a:lstStyle/>
                    <a:p>
                      <a:pPr marL="815975" marR="783590" indent="-3175">
                        <a:lnSpc>
                          <a:spcPts val="2100"/>
                        </a:lnSpc>
                        <a:spcBef>
                          <a:spcPts val="545"/>
                        </a:spcBef>
                      </a:pPr>
                      <a:r>
                        <a:rPr sz="1800" b="1" spc="-1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Limitations/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Drawbacks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A32E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9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1.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CDCC"/>
                    </a:solidFill>
                  </a:tcPr>
                </a:tc>
                <a:tc>
                  <a:txBody>
                    <a:bodyPr/>
                    <a:lstStyle/>
                    <a:p>
                      <a:pPr marL="1633855" indent="-1175385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NDMC’s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Smart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Parking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Management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(New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Delhi)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22019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R.</a:t>
                      </a:r>
                      <a:r>
                        <a:rPr sz="1400" spc="-1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85" dirty="0">
                          <a:latin typeface="Trebuchet MS"/>
                          <a:cs typeface="Trebuchet MS"/>
                        </a:rPr>
                        <a:t>Deepika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 ,</a:t>
                      </a:r>
                      <a:r>
                        <a:rPr sz="1400" spc="-19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Dr.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K.</a:t>
                      </a:r>
                      <a:r>
                        <a:rPr sz="1400" spc="-1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Santhi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CDCC"/>
                    </a:solidFill>
                  </a:tcPr>
                </a:tc>
                <a:tc>
                  <a:txBody>
                    <a:bodyPr/>
                    <a:lstStyle/>
                    <a:p>
                      <a:pPr marL="381635" marR="1266825" indent="-285115">
                        <a:lnSpc>
                          <a:spcPct val="102899"/>
                        </a:lnSpc>
                        <a:spcBef>
                          <a:spcPts val="135"/>
                        </a:spcBef>
                        <a:buFont typeface="Arial MT"/>
                        <a:buChar char="•"/>
                        <a:tabLst>
                          <a:tab pos="381635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Provides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vehicle</a:t>
                      </a:r>
                      <a:r>
                        <a:rPr sz="1400" spc="-5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flow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tracking.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71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CDCC"/>
                    </a:solidFill>
                  </a:tcPr>
                </a:tc>
                <a:tc>
                  <a:txBody>
                    <a:bodyPr/>
                    <a:lstStyle/>
                    <a:p>
                      <a:pPr marL="384810" marR="1325245" indent="-287020">
                        <a:lnSpc>
                          <a:spcPct val="103200"/>
                        </a:lnSpc>
                        <a:spcBef>
                          <a:spcPts val="130"/>
                        </a:spcBef>
                        <a:buFont typeface="Arial MT"/>
                        <a:buChar char="•"/>
                        <a:tabLst>
                          <a:tab pos="38481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sz="1400" spc="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user-facing reservation system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165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CD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57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2.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8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tabLst>
                          <a:tab pos="269240" algn="l"/>
                        </a:tabLst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	Fully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Automated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Multi-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Parking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(Hyderabad,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255" algn="ctr">
                        <a:lnSpc>
                          <a:spcPct val="100000"/>
                        </a:lnSpc>
                        <a:spcBef>
                          <a:spcPts val="1755"/>
                        </a:spcBef>
                      </a:pPr>
                      <a:r>
                        <a:rPr sz="1400" spc="125" dirty="0">
                          <a:latin typeface="Trebuchet MS"/>
                          <a:cs typeface="Trebuchet MS"/>
                        </a:rPr>
                        <a:t>Vedha</a:t>
                      </a:r>
                      <a:r>
                        <a:rPr sz="1400" spc="2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Sree</a:t>
                      </a:r>
                      <a:r>
                        <a:rPr sz="1400" spc="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.G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8E7"/>
                    </a:solidFill>
                  </a:tcPr>
                </a:tc>
                <a:tc>
                  <a:txBody>
                    <a:bodyPr/>
                    <a:lstStyle/>
                    <a:p>
                      <a:pPr marL="381635" indent="-285115">
                        <a:lnSpc>
                          <a:spcPct val="100000"/>
                        </a:lnSpc>
                        <a:spcBef>
                          <a:spcPts val="195"/>
                        </a:spcBef>
                        <a:buFont typeface="Arial MT"/>
                        <a:buChar char="•"/>
                        <a:tabLst>
                          <a:tab pos="381635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Severe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congestion</a:t>
                      </a:r>
                      <a:r>
                        <a:rPr sz="1400" spc="-6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dense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3816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urban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parking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zones.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8E7"/>
                    </a:solidFill>
                  </a:tcPr>
                </a:tc>
                <a:tc>
                  <a:txBody>
                    <a:bodyPr/>
                    <a:lstStyle/>
                    <a:p>
                      <a:pPr marL="384810" indent="-286385">
                        <a:lnSpc>
                          <a:spcPct val="100000"/>
                        </a:lnSpc>
                        <a:spcBef>
                          <a:spcPts val="195"/>
                        </a:spcBef>
                        <a:buFont typeface="Arial MT"/>
                        <a:buChar char="•"/>
                        <a:tabLst>
                          <a:tab pos="38481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web-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booking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  <a:p>
                      <a:pPr marL="384810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400" spc="-10" dirty="0">
                          <a:latin typeface="Trebuchet MS"/>
                          <a:cs typeface="Trebuchet MS"/>
                        </a:rPr>
                        <a:t>system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47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3.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CDCC"/>
                    </a:solidFill>
                  </a:tcPr>
                </a:tc>
                <a:tc>
                  <a:txBody>
                    <a:bodyPr/>
                    <a:lstStyle/>
                    <a:p>
                      <a:pPr marL="4406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Puzzle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Parking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(Noida</a:t>
                      </a:r>
                      <a:r>
                        <a:rPr sz="18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Sector</a:t>
                      </a:r>
                      <a:r>
                        <a:rPr sz="18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latin typeface="Calibri"/>
                          <a:cs typeface="Calibri"/>
                        </a:rPr>
                        <a:t>63)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850265">
                        <a:lnSpc>
                          <a:spcPct val="100000"/>
                        </a:lnSpc>
                        <a:spcBef>
                          <a:spcPts val="1864"/>
                        </a:spcBef>
                      </a:pPr>
                      <a:r>
                        <a:rPr sz="1400" spc="-35" dirty="0">
                          <a:latin typeface="Trebuchet MS"/>
                          <a:cs typeface="Trebuchet MS"/>
                        </a:rPr>
                        <a:t>P.</a:t>
                      </a:r>
                      <a:r>
                        <a:rPr sz="1400" spc="-1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75" dirty="0">
                          <a:latin typeface="Trebuchet MS"/>
                          <a:cs typeface="Trebuchet MS"/>
                        </a:rPr>
                        <a:t>Murugan,</a:t>
                      </a:r>
                      <a:r>
                        <a:rPr sz="1400" spc="41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Dr.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V.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55" dirty="0">
                          <a:latin typeface="Trebuchet MS"/>
                          <a:cs typeface="Trebuchet MS"/>
                        </a:rPr>
                        <a:t>Sathya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CDCC"/>
                    </a:solidFill>
                  </a:tcPr>
                </a:tc>
                <a:tc>
                  <a:txBody>
                    <a:bodyPr/>
                    <a:lstStyle/>
                    <a:p>
                      <a:pPr marL="381635" marR="253365" indent="-285115">
                        <a:lnSpc>
                          <a:spcPct val="100000"/>
                        </a:lnSpc>
                        <a:spcBef>
                          <a:spcPts val="315"/>
                        </a:spcBef>
                        <a:buFont typeface="Arial MT"/>
                        <a:buChar char="•"/>
                        <a:tabLst>
                          <a:tab pos="381635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High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demand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limited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space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in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office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districts.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CDCC"/>
                    </a:solidFill>
                  </a:tcPr>
                </a:tc>
                <a:tc>
                  <a:txBody>
                    <a:bodyPr/>
                    <a:lstStyle/>
                    <a:p>
                      <a:pPr marL="384810" marR="669925" indent="-287020">
                        <a:lnSpc>
                          <a:spcPct val="101099"/>
                        </a:lnSpc>
                        <a:spcBef>
                          <a:spcPts val="204"/>
                        </a:spcBef>
                        <a:buFont typeface="Arial MT"/>
                        <a:buChar char="•"/>
                        <a:tabLst>
                          <a:tab pos="38481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No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dynamic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pricing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or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web-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based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reservation system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603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FCD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409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25" dirty="0">
                          <a:latin typeface="Trebuchet MS"/>
                          <a:cs typeface="Trebuchet MS"/>
                        </a:rPr>
                        <a:t>4.</a:t>
                      </a:r>
                      <a:endParaRPr sz="1800">
                        <a:latin typeface="Trebuchet MS"/>
                        <a:cs typeface="Trebuchet MS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8E7"/>
                    </a:solidFill>
                  </a:tcPr>
                </a:tc>
                <a:tc>
                  <a:txBody>
                    <a:bodyPr/>
                    <a:lstStyle/>
                    <a:p>
                      <a:pPr marL="100330" marR="9271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318135" algn="l"/>
                        </a:tabLst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.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	Hydraulic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Multi-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Level</a:t>
                      </a:r>
                      <a:r>
                        <a:rPr sz="18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Parking</a:t>
                      </a:r>
                      <a:r>
                        <a:rPr sz="18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latin typeface="Calibri"/>
                          <a:cs typeface="Calibri"/>
                        </a:rPr>
                        <a:t>(Patna, </a:t>
                      </a:r>
                      <a:r>
                        <a:rPr sz="1800" b="1" dirty="0">
                          <a:latin typeface="Calibri"/>
                          <a:cs typeface="Calibri"/>
                        </a:rPr>
                        <a:t>Maurya </a:t>
                      </a:r>
                      <a:r>
                        <a:rPr sz="1800" b="1" spc="-20" dirty="0">
                          <a:latin typeface="Calibri"/>
                          <a:cs typeface="Calibri"/>
                        </a:rPr>
                        <a:t>Lok)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1614"/>
                        </a:lnSpc>
                        <a:spcBef>
                          <a:spcPts val="1760"/>
                        </a:spcBef>
                      </a:pPr>
                      <a:r>
                        <a:rPr sz="1400" spc="70" dirty="0">
                          <a:latin typeface="Trebuchet MS"/>
                          <a:cs typeface="Trebuchet MS"/>
                        </a:rPr>
                        <a:t>Leena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Patil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,</a:t>
                      </a:r>
                      <a:r>
                        <a:rPr sz="1400" spc="-18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90" dirty="0">
                          <a:latin typeface="Trebuchet MS"/>
                          <a:cs typeface="Trebuchet MS"/>
                        </a:rPr>
                        <a:t>Aayush</a:t>
                      </a:r>
                      <a:r>
                        <a:rPr sz="1400" spc="-4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85" dirty="0">
                          <a:latin typeface="Trebuchet MS"/>
                          <a:cs typeface="Trebuchet MS"/>
                        </a:rPr>
                        <a:t>Vaibhaw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47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8E7"/>
                    </a:solidFill>
                  </a:tcPr>
                </a:tc>
                <a:tc>
                  <a:txBody>
                    <a:bodyPr/>
                    <a:lstStyle/>
                    <a:p>
                      <a:pPr marL="381635" marR="472440" indent="-285115">
                        <a:lnSpc>
                          <a:spcPct val="102899"/>
                        </a:lnSpc>
                        <a:spcBef>
                          <a:spcPts val="165"/>
                        </a:spcBef>
                        <a:buFont typeface="Arial MT"/>
                        <a:buChar char="•"/>
                        <a:tabLst>
                          <a:tab pos="381635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Chaotic</a:t>
                      </a:r>
                      <a:r>
                        <a:rPr sz="1400" spc="-6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roadside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parking</a:t>
                      </a:r>
                      <a:r>
                        <a:rPr sz="1400" spc="-4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and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shortage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structured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parking.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8E7"/>
                    </a:solidFill>
                  </a:tcPr>
                </a:tc>
                <a:tc>
                  <a:txBody>
                    <a:bodyPr/>
                    <a:lstStyle/>
                    <a:p>
                      <a:pPr marL="384810" marR="312420" indent="-287020" algn="just">
                        <a:lnSpc>
                          <a:spcPct val="103200"/>
                        </a:lnSpc>
                        <a:spcBef>
                          <a:spcPts val="160"/>
                        </a:spcBef>
                        <a:buChar char="•"/>
                        <a:tabLst>
                          <a:tab pos="384810" algn="l"/>
                          <a:tab pos="439420" algn="l"/>
                        </a:tabLst>
                      </a:pPr>
                      <a:r>
                        <a:rPr sz="1400" dirty="0">
                          <a:latin typeface="Trebuchet MS"/>
                          <a:cs typeface="Trebuchet MS"/>
                        </a:rPr>
                        <a:t>	Absence</a:t>
                      </a:r>
                      <a:r>
                        <a:rPr sz="1400" spc="-2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of a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 user-friendly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booking</a:t>
                      </a:r>
                      <a:r>
                        <a:rPr sz="1400" spc="-35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dashboard</a:t>
                      </a:r>
                      <a:r>
                        <a:rPr sz="1400" spc="-3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latin typeface="Trebuchet MS"/>
                          <a:cs typeface="Trebuchet MS"/>
                        </a:rPr>
                        <a:t>to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20" dirty="0">
                          <a:latin typeface="Trebuchet MS"/>
                          <a:cs typeface="Trebuchet MS"/>
                        </a:rPr>
                        <a:t>drive </a:t>
                      </a:r>
                      <a:r>
                        <a:rPr sz="1400" spc="-10" dirty="0">
                          <a:latin typeface="Trebuchet MS"/>
                          <a:cs typeface="Trebuchet MS"/>
                        </a:rPr>
                        <a:t>usage.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EE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53340">
              <a:lnSpc>
                <a:spcPct val="100000"/>
              </a:lnSpc>
              <a:spcBef>
                <a:spcPts val="95"/>
              </a:spcBef>
            </a:pPr>
            <a:r>
              <a:rPr dirty="0"/>
              <a:t>6.</a:t>
            </a:r>
            <a:r>
              <a:rPr spc="-110" dirty="0"/>
              <a:t> </a:t>
            </a:r>
            <a:r>
              <a:rPr dirty="0"/>
              <a:t>Theoretical</a:t>
            </a:r>
            <a:r>
              <a:rPr spc="-13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0688" y="1470786"/>
            <a:ext cx="33305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6.3</a:t>
            </a:r>
            <a:r>
              <a:rPr sz="2400" spc="-9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404040"/>
                </a:solidFill>
                <a:latin typeface="Times New Roman"/>
                <a:cs typeface="Times New Roman"/>
              </a:rPr>
              <a:t>Software </a:t>
            </a:r>
            <a:r>
              <a:rPr sz="2400" spc="-10" dirty="0">
                <a:solidFill>
                  <a:srgbClr val="404040"/>
                </a:solidFill>
                <a:latin typeface="Times New Roman"/>
                <a:cs typeface="Times New Roman"/>
              </a:rPr>
              <a:t>Requirements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27646" y="2021458"/>
          <a:ext cx="9879330" cy="48183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95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5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972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Category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Requirement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Purpose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8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69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Frontend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2152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483870">
                        <a:lnSpc>
                          <a:spcPct val="101099"/>
                        </a:lnSpc>
                        <a:spcBef>
                          <a:spcPts val="46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React.js:</a:t>
                      </a:r>
                      <a:r>
                        <a:rPr sz="18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Dynamic,</a:t>
                      </a:r>
                      <a:r>
                        <a:rPr sz="18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responsive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pages</a:t>
                      </a:r>
                      <a:r>
                        <a:rPr sz="18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HTML5,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CSS3,</a:t>
                      </a:r>
                      <a:r>
                        <a:rPr sz="18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JS: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Structure,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styling,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interactivity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590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Backend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58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795020">
                        <a:lnSpc>
                          <a:spcPct val="101099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Node.js</a:t>
                      </a:r>
                      <a:r>
                        <a:rPr sz="18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Express:</a:t>
                      </a:r>
                      <a:r>
                        <a:rPr sz="1800" b="1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Server-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side</a:t>
                      </a:r>
                      <a:r>
                        <a:rPr sz="18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logic,</a:t>
                      </a:r>
                      <a:r>
                        <a:rPr sz="1800" spc="-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APIs,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request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handling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Database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MongoDB: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Store</a:t>
                      </a:r>
                      <a:r>
                        <a:rPr sz="18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profiles,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events,</a:t>
                      </a:r>
                      <a:r>
                        <a:rPr sz="18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discussions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31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341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Authentication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0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272415">
                        <a:lnSpc>
                          <a:spcPct val="101099"/>
                        </a:lnSpc>
                        <a:spcBef>
                          <a:spcPts val="30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JWT</a:t>
                      </a:r>
                      <a:r>
                        <a:rPr sz="18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OAuth: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Secure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login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alumni,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students,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admin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8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540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Development</a:t>
                      </a:r>
                      <a:r>
                        <a:rPr sz="18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Tools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 marR="381635">
                        <a:lnSpc>
                          <a:spcPct val="101099"/>
                        </a:lnSpc>
                        <a:spcBef>
                          <a:spcPts val="3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VS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Code: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editor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Git</a:t>
                      </a: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GitHub:</a:t>
                      </a:r>
                      <a:r>
                        <a:rPr sz="18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Version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control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collaboration</a:t>
                      </a:r>
                      <a:r>
                        <a:rPr sz="1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20" dirty="0">
                          <a:latin typeface="Times New Roman"/>
                          <a:cs typeface="Times New Roman"/>
                        </a:rPr>
                        <a:t>Postman:</a:t>
                      </a:r>
                      <a:r>
                        <a:rPr sz="18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API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&amp;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debugging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Hosting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800" b="1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Deployment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800" b="1" spc="-45" dirty="0">
                          <a:latin typeface="Times New Roman"/>
                          <a:cs typeface="Times New Roman"/>
                        </a:rPr>
                        <a:t>AWS:</a:t>
                      </a:r>
                      <a:r>
                        <a:rPr sz="18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Host</a:t>
                      </a:r>
                      <a:r>
                        <a:rPr sz="1800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web</a:t>
                      </a: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application</a:t>
                      </a:r>
                      <a:r>
                        <a:rPr sz="18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online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111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087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Browser</a:t>
                      </a:r>
                      <a:r>
                        <a:rPr sz="18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spc="-10" dirty="0">
                          <a:latin typeface="Times New Roman"/>
                          <a:cs typeface="Times New Roman"/>
                        </a:rPr>
                        <a:t>Support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631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800" b="1" dirty="0">
                          <a:latin typeface="Times New Roman"/>
                          <a:cs typeface="Times New Roman"/>
                        </a:rPr>
                        <a:t>Chrome,</a:t>
                      </a:r>
                      <a:r>
                        <a:rPr sz="1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Edge,</a:t>
                      </a:r>
                      <a:r>
                        <a:rPr sz="18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Times New Roman"/>
                          <a:cs typeface="Times New Roman"/>
                        </a:rPr>
                        <a:t>Firefox:</a:t>
                      </a:r>
                      <a:r>
                        <a:rPr sz="18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Ensure</a:t>
                      </a:r>
                      <a:r>
                        <a:rPr sz="18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compatibility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8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dirty="0">
                          <a:latin typeface="Times New Roman"/>
                          <a:cs typeface="Times New Roman"/>
                        </a:rPr>
                        <a:t>major</a:t>
                      </a:r>
                      <a:r>
                        <a:rPr sz="1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browsers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8300" y="2524061"/>
            <a:ext cx="595312" cy="4810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1625" y="3200336"/>
            <a:ext cx="595312" cy="4810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19250" y="3762311"/>
            <a:ext cx="595312" cy="48101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181225" y="4324286"/>
            <a:ext cx="595312" cy="4810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90800" y="5076888"/>
            <a:ext cx="595312" cy="48101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38450" y="5781675"/>
            <a:ext cx="595312" cy="48101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90775" y="6343648"/>
            <a:ext cx="595312" cy="48101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1623293" y="6367972"/>
            <a:ext cx="306070" cy="321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000" spc="25" dirty="0">
                <a:solidFill>
                  <a:srgbClr val="FFFFFF"/>
                </a:solidFill>
                <a:latin typeface="Trebuchet MS"/>
                <a:cs typeface="Trebuchet MS"/>
              </a:rPr>
              <a:t>11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40127" y="370154"/>
            <a:ext cx="2571750" cy="628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Applications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50798" y="1629917"/>
            <a:ext cx="10375265" cy="41078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71450" indent="373380">
              <a:lnSpc>
                <a:spcPct val="100299"/>
              </a:lnSpc>
              <a:spcBef>
                <a:spcPts val="90"/>
              </a:spcBef>
              <a:buFont typeface="Arial"/>
              <a:buAutoNum type="arabicPeriod"/>
              <a:tabLst>
                <a:tab pos="386080" algn="l"/>
              </a:tabLst>
            </a:pPr>
            <a:r>
              <a:rPr sz="1800" b="1" dirty="0">
                <a:latin typeface="Times New Roman"/>
                <a:cs typeface="Times New Roman"/>
              </a:rPr>
              <a:t>Municipal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Street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Parking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Management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Arial"/>
                <a:cs typeface="Arial"/>
              </a:rPr>
              <a:t>: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Provides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city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municipal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corporations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with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centralized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system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manage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on-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street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zones,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monitor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occupancy,</a:t>
            </a:r>
            <a:r>
              <a:rPr sz="18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generate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revenue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reports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real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time</a:t>
            </a:r>
            <a:r>
              <a:rPr sz="1700" spc="-10" dirty="0">
                <a:solidFill>
                  <a:srgbClr val="404040"/>
                </a:solidFill>
                <a:latin typeface="Arial MT"/>
                <a:cs typeface="Arial MT"/>
              </a:rPr>
              <a:t>.</a:t>
            </a:r>
            <a:endParaRPr sz="1700">
              <a:latin typeface="Arial MT"/>
              <a:cs typeface="Arial MT"/>
            </a:endParaRPr>
          </a:p>
          <a:p>
            <a:pPr marL="252729" indent="-240029">
              <a:lnSpc>
                <a:spcPct val="100000"/>
              </a:lnSpc>
              <a:spcBef>
                <a:spcPts val="2030"/>
              </a:spcBef>
              <a:buFont typeface="Arial"/>
              <a:buAutoNum type="arabicPeriod"/>
              <a:tabLst>
                <a:tab pos="252729" algn="l"/>
              </a:tabLst>
            </a:pPr>
            <a:r>
              <a:rPr sz="1800" b="1" dirty="0">
                <a:latin typeface="Times New Roman"/>
                <a:cs typeface="Times New Roman"/>
              </a:rPr>
              <a:t>Educational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Institution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Campus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Parking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Helps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colleges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universities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manage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separate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allocations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faculty,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students,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visitors,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reducing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congestion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during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peak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hours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800">
              <a:latin typeface="Arial MT"/>
              <a:cs typeface="Arial MT"/>
            </a:endParaRPr>
          </a:p>
          <a:p>
            <a:pPr marL="12700" marR="688975" indent="240029">
              <a:lnSpc>
                <a:spcPct val="100600"/>
              </a:lnSpc>
              <a:buFont typeface="Arial"/>
              <a:buAutoNum type="arabicPeriod" startAt="3"/>
              <a:tabLst>
                <a:tab pos="252729" algn="l"/>
              </a:tabLst>
            </a:pPr>
            <a:r>
              <a:rPr sz="1800" b="1" dirty="0">
                <a:latin typeface="Times New Roman"/>
                <a:cs typeface="Times New Roman"/>
              </a:rPr>
              <a:t>Commercial</a:t>
            </a:r>
            <a:r>
              <a:rPr sz="1800" b="1" spc="-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Complex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Mall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Parking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Enables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shopping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malls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commercial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buildings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to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manage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paid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customer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with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automated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hourly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billing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quick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spot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lookup.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"/>
              <a:buAutoNum type="arabicPeriod" startAt="3"/>
            </a:pPr>
            <a:endParaRPr sz="18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buFont typeface="Arial"/>
              <a:buAutoNum type="arabicPeriod" startAt="3"/>
              <a:tabLst>
                <a:tab pos="266700" algn="l"/>
              </a:tabLst>
            </a:pPr>
            <a:r>
              <a:rPr sz="1800" b="1" dirty="0">
                <a:latin typeface="Times New Roman"/>
                <a:cs typeface="Times New Roman"/>
              </a:rPr>
              <a:t>Office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Park</a:t>
            </a:r>
            <a:r>
              <a:rPr sz="1800" b="1" spc="-4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and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IT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Hub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Parking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Management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: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Allows</a:t>
            </a:r>
            <a:r>
              <a:rPr sz="1800" spc="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large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office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complexes</a:t>
            </a:r>
            <a:r>
              <a:rPr sz="1800" spc="-1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allocate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monitor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parking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for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employees and</a:t>
            </a:r>
            <a:r>
              <a:rPr sz="1800" spc="-4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visitors,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with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analytics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800" spc="-5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support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future</a:t>
            </a:r>
            <a:r>
              <a:rPr sz="1800" spc="-5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infrastructure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planning</a:t>
            </a:r>
            <a:endParaRPr sz="1800">
              <a:latin typeface="Arial MT"/>
              <a:cs typeface="Arial MT"/>
            </a:endParaRPr>
          </a:p>
          <a:p>
            <a:pPr marL="12700" marR="355600" indent="254000">
              <a:lnSpc>
                <a:spcPct val="100600"/>
              </a:lnSpc>
              <a:spcBef>
                <a:spcPts val="1995"/>
              </a:spcBef>
              <a:buFont typeface="Arial"/>
              <a:buAutoNum type="arabicPeriod" startAt="5"/>
              <a:tabLst>
                <a:tab pos="266700" algn="l"/>
              </a:tabLst>
            </a:pPr>
            <a:r>
              <a:rPr sz="1800" b="1" dirty="0">
                <a:latin typeface="Times New Roman"/>
                <a:cs typeface="Times New Roman"/>
              </a:rPr>
              <a:t>Residential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Society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Visitor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Parking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404040"/>
                </a:solidFill>
                <a:latin typeface="Times New Roman"/>
                <a:cs typeface="Times New Roman"/>
              </a:rPr>
              <a:t>:</a:t>
            </a:r>
            <a:r>
              <a:rPr sz="1800" b="1" spc="-20" dirty="0">
                <a:solidFill>
                  <a:srgbClr val="40404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Offers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gated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communities a</a:t>
            </a:r>
            <a:r>
              <a:rPr sz="1800" spc="-2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simple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way</a:t>
            </a:r>
            <a:r>
              <a:rPr sz="1800" spc="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track</a:t>
            </a:r>
            <a:r>
              <a:rPr sz="1800" spc="-4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manage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visitor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parking,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maintaining</a:t>
            </a:r>
            <a:r>
              <a:rPr sz="1800" spc="-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clear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records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of</a:t>
            </a:r>
            <a:r>
              <a:rPr sz="1800" spc="-35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vehicle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entry,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exit,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04040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40404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04040"/>
                </a:solidFill>
                <a:latin typeface="Arial MT"/>
                <a:cs typeface="Arial MT"/>
              </a:rPr>
              <a:t>duration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74111" y="635888"/>
            <a:ext cx="3159760" cy="627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8604769" y="1660093"/>
            <a:ext cx="1869439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Crisis,”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Jan.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2026.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747" y="1660093"/>
            <a:ext cx="776985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[1].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Smart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Mobility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Today,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“How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Cities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Tackling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Urban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Parking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u="sng" spc="-10" dirty="0">
                <a:solidFill>
                  <a:srgbClr val="F94817"/>
                </a:solidFill>
                <a:uFill>
                  <a:solidFill>
                    <a:srgbClr val="F94817"/>
                  </a:solidFill>
                </a:uFill>
                <a:latin typeface="Arial MT"/>
                <a:cs typeface="Arial MT"/>
                <a:hlinkClick r:id="rId2"/>
              </a:rPr>
              <a:t>https://www.smartmobilitytoday.in/urban-parking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69747" y="2483611"/>
            <a:ext cx="9792335" cy="3317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00225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[2].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Urban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Tech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Insights,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“Dynamic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Smart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Systems,” Whitepaper,Sept.2022,Available: </a:t>
            </a:r>
            <a:r>
              <a:rPr sz="1800" u="sng" spc="-10" dirty="0">
                <a:solidFill>
                  <a:srgbClr val="F94817"/>
                </a:solidFill>
                <a:uFill>
                  <a:solidFill>
                    <a:srgbClr val="F94817"/>
                  </a:solidFill>
                </a:uFill>
                <a:latin typeface="Arial MT"/>
                <a:cs typeface="Arial MT"/>
                <a:hlinkClick r:id="rId3"/>
              </a:rPr>
              <a:t>https://www.urbantechinsights.com/reports/smart-parking-pricing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 marR="31115">
              <a:lnSpc>
                <a:spcPct val="100000"/>
              </a:lnSpc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[3].</a:t>
            </a:r>
            <a:r>
              <a:rPr sz="1800" u="sng" spc="440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Network,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“Global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Trends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Web-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Solutions,”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Industry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Blog,Dec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2021. </a:t>
            </a:r>
            <a:r>
              <a:rPr sz="1800" u="sng" spc="-10" dirty="0">
                <a:solidFill>
                  <a:srgbClr val="F94817"/>
                </a:solidFill>
                <a:uFill>
                  <a:solidFill>
                    <a:srgbClr val="F94817"/>
                  </a:solidFill>
                </a:uFill>
                <a:latin typeface="Arial MT"/>
                <a:cs typeface="Arial MT"/>
                <a:hlinkClick r:id="rId4"/>
              </a:rPr>
              <a:t>https://www.parkingnetwork.com/blog/web-based-solutions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Arial MT"/>
                <a:cs typeface="Arial MT"/>
              </a:rPr>
              <a:t>[4].</a:t>
            </a:r>
            <a:r>
              <a:rPr sz="1800" spc="4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City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India,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“Case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Study: NDMC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Smart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Initiative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Delhi,”</a:t>
            </a:r>
            <a:r>
              <a:rPr sz="1800" spc="-10" dirty="0">
                <a:latin typeface="Arial MT"/>
                <a:cs typeface="Arial MT"/>
              </a:rPr>
              <a:t> Available: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u="sng" spc="-10" dirty="0">
                <a:solidFill>
                  <a:srgbClr val="F94817"/>
                </a:solidFill>
                <a:uFill>
                  <a:solidFill>
                    <a:srgbClr val="F94817"/>
                  </a:solidFill>
                </a:uFill>
                <a:latin typeface="Arial MT"/>
                <a:cs typeface="Arial MT"/>
                <a:hlinkClick r:id="rId5"/>
              </a:rPr>
              <a:t>https://www.citydataindia.org/reports/ndmc-parking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Arial MT"/>
              <a:cs typeface="Arial MT"/>
            </a:endParaRPr>
          </a:p>
          <a:p>
            <a:pPr marL="76200" marR="5080" indent="-6413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[5].</a:t>
            </a:r>
            <a:r>
              <a:rPr sz="1800" spc="4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Tech4Urban,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“User-</a:t>
            </a:r>
            <a:r>
              <a:rPr sz="1800" dirty="0">
                <a:latin typeface="Arial MT"/>
                <a:cs typeface="Arial MT"/>
              </a:rPr>
              <a:t>Centric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Design in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Smart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Parking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Platforms,”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Technology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Blog, </a:t>
            </a:r>
            <a:r>
              <a:rPr sz="1800" spc="-10" dirty="0">
                <a:latin typeface="Arial MT"/>
                <a:cs typeface="Arial MT"/>
              </a:rPr>
              <a:t>Oct,2022. </a:t>
            </a:r>
            <a:r>
              <a:rPr sz="1800" u="sng" spc="-10" dirty="0">
                <a:solidFill>
                  <a:srgbClr val="F94817"/>
                </a:solidFill>
                <a:uFill>
                  <a:solidFill>
                    <a:srgbClr val="F94817"/>
                  </a:solidFill>
                </a:uFill>
                <a:latin typeface="Arial MT"/>
                <a:cs typeface="Arial MT"/>
                <a:hlinkClick r:id="rId6"/>
              </a:rPr>
              <a:t>https://www.tech4urban.in/blog/user-centric-parking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407533" y="4261484"/>
            <a:ext cx="26314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A32E0E"/>
                </a:solidFill>
              </a:rPr>
              <a:t>Queries</a:t>
            </a:r>
            <a:r>
              <a:rPr sz="5400" spc="-220" dirty="0">
                <a:solidFill>
                  <a:srgbClr val="A32E0E"/>
                </a:solidFill>
              </a:rPr>
              <a:t> </a:t>
            </a:r>
            <a:r>
              <a:rPr sz="5400" spc="-50" dirty="0">
                <a:solidFill>
                  <a:srgbClr val="A32E0E"/>
                </a:solidFill>
              </a:rPr>
              <a:t>?</a:t>
            </a:r>
            <a:endParaRPr sz="54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38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9481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1323</Words>
  <Application>Microsoft Office PowerPoint</Application>
  <PresentationFormat>Widescreen</PresentationFormat>
  <Paragraphs>165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MT</vt:lpstr>
      <vt:lpstr>Calibri</vt:lpstr>
      <vt:lpstr>Tahoma</vt:lpstr>
      <vt:lpstr>Times New Roman</vt:lpstr>
      <vt:lpstr>Trebuchet MS</vt:lpstr>
      <vt:lpstr>Office Theme</vt:lpstr>
      <vt:lpstr>Synopsis Presentation on Intelligent Real-Time Street Parking Solutions - ParkHub</vt:lpstr>
      <vt:lpstr>Contents</vt:lpstr>
      <vt:lpstr>1. Introduction</vt:lpstr>
      <vt:lpstr>3. Problem Statement</vt:lpstr>
      <vt:lpstr>4. Proposed Solution</vt:lpstr>
      <vt:lpstr>4. Proposed Solution</vt:lpstr>
      <vt:lpstr>5. Objectives</vt:lpstr>
      <vt:lpstr>6. Theoretical Analysis</vt:lpstr>
      <vt:lpstr>6. Theoretical Analysis</vt:lpstr>
      <vt:lpstr>2. Literature Review</vt:lpstr>
      <vt:lpstr>6. Theoretical Analysis</vt:lpstr>
      <vt:lpstr>Applications</vt:lpstr>
      <vt:lpstr>REFERENCES</vt:lpstr>
      <vt:lpstr>Queries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Rajnandani Patidar</cp:lastModifiedBy>
  <cp:revision>1</cp:revision>
  <dcterms:created xsi:type="dcterms:W3CDTF">2026-06-15T16:38:56Z</dcterms:created>
  <dcterms:modified xsi:type="dcterms:W3CDTF">2026-06-15T22:55:13Z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2026-06-15T00:00:00Z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2026-06-15T00:00:00Z</vt:filetime>
  </property>
  <property fmtid="{D5CDD505-2E9C-101B-9397-08002B2CF9AE}" pid="6" name="Producer">
    <vt:lpwstr>Microsoft® PowerPoint® for Microsoft 365</vt:lpwstr>
  </property>
</Properties>
</file>