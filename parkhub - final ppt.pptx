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70" r:id="rId9"/>
    <p:sldId id="266" r:id="rId10"/>
    <p:sldId id="267" r:id="rId11"/>
    <p:sldId id="271" r:id="rId12"/>
    <p:sldId id="272" r:id="rId13"/>
    <p:sldId id="273" r:id="rId14"/>
    <p:sldId id="268" r:id="rId15"/>
    <p:sldId id="269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D1FE3-B3D1-411A-B287-4B195ED403C3}" v="1" dt="2026-06-15T22:40:10.25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nandani Patidar" userId="3c1d2b259461dfe0" providerId="LiveId" clId="{2D18DAE6-427A-4B7D-8F12-88E3E7082831}"/>
    <pc:docChg chg="undo custSel addSld modSld">
      <pc:chgData name="Rajnandani Patidar" userId="3c1d2b259461dfe0" providerId="LiveId" clId="{2D18DAE6-427A-4B7D-8F12-88E3E7082831}" dt="2026-06-15T22:49:47.393" v="352" actId="20577"/>
      <pc:docMkLst>
        <pc:docMk/>
      </pc:docMkLst>
      <pc:sldChg chg="modSp mod">
        <pc:chgData name="Rajnandani Patidar" userId="3c1d2b259461dfe0" providerId="LiveId" clId="{2D18DAE6-427A-4B7D-8F12-88E3E7082831}" dt="2026-06-15T22:49:47.393" v="352" actId="20577"/>
        <pc:sldMkLst>
          <pc:docMk/>
          <pc:sldMk cId="0" sldId="257"/>
        </pc:sldMkLst>
        <pc:spChg chg="mod">
          <ac:chgData name="Rajnandani Patidar" userId="3c1d2b259461dfe0" providerId="LiveId" clId="{2D18DAE6-427A-4B7D-8F12-88E3E7082831}" dt="2026-06-15T22:49:47.393" v="352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Rajnandani Patidar" userId="3c1d2b259461dfe0" providerId="LiveId" clId="{2D18DAE6-427A-4B7D-8F12-88E3E7082831}" dt="2026-06-15T22:47:30.937" v="240" actId="20577"/>
        <pc:sldMkLst>
          <pc:docMk/>
          <pc:sldMk cId="0" sldId="262"/>
        </pc:sldMkLst>
        <pc:spChg chg="mod">
          <ac:chgData name="Rajnandani Patidar" userId="3c1d2b259461dfe0" providerId="LiveId" clId="{2D18DAE6-427A-4B7D-8F12-88E3E7082831}" dt="2026-06-15T22:47:30.937" v="240" actId="20577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Rajnandani Patidar" userId="3c1d2b259461dfe0" providerId="LiveId" clId="{2D18DAE6-427A-4B7D-8F12-88E3E7082831}" dt="2026-06-15T22:44:54.097" v="181" actId="1076"/>
        <pc:sldMkLst>
          <pc:docMk/>
          <pc:sldMk cId="0" sldId="263"/>
        </pc:sldMkLst>
        <pc:spChg chg="mod">
          <ac:chgData name="Rajnandani Patidar" userId="3c1d2b259461dfe0" providerId="LiveId" clId="{2D18DAE6-427A-4B7D-8F12-88E3E7082831}" dt="2026-06-15T22:44:54.097" v="181" actId="1076"/>
          <ac:spMkLst>
            <pc:docMk/>
            <pc:sldMk cId="0" sldId="263"/>
            <ac:spMk id="2" creationId="{00000000-0000-0000-0000-000000000000}"/>
          </ac:spMkLst>
        </pc:spChg>
      </pc:sldChg>
      <pc:sldChg chg="modSp mod">
        <pc:chgData name="Rajnandani Patidar" userId="3c1d2b259461dfe0" providerId="LiveId" clId="{2D18DAE6-427A-4B7D-8F12-88E3E7082831}" dt="2026-06-15T21:51:50.688" v="7" actId="1076"/>
        <pc:sldMkLst>
          <pc:docMk/>
          <pc:sldMk cId="0" sldId="266"/>
        </pc:sldMkLst>
        <pc:picChg chg="mod">
          <ac:chgData name="Rajnandani Patidar" userId="3c1d2b259461dfe0" providerId="LiveId" clId="{2D18DAE6-427A-4B7D-8F12-88E3E7082831}" dt="2026-06-15T21:51:27.329" v="3" actId="1076"/>
          <ac:picMkLst>
            <pc:docMk/>
            <pc:sldMk cId="0" sldId="266"/>
            <ac:picMk id="5" creationId="{00000000-0000-0000-0000-000000000000}"/>
          </ac:picMkLst>
        </pc:picChg>
        <pc:picChg chg="mod">
          <ac:chgData name="Rajnandani Patidar" userId="3c1d2b259461dfe0" providerId="LiveId" clId="{2D18DAE6-427A-4B7D-8F12-88E3E7082831}" dt="2026-06-15T21:51:23.396" v="2" actId="1076"/>
          <ac:picMkLst>
            <pc:docMk/>
            <pc:sldMk cId="0" sldId="266"/>
            <ac:picMk id="6" creationId="{00000000-0000-0000-0000-000000000000}"/>
          </ac:picMkLst>
        </pc:picChg>
        <pc:picChg chg="mod">
          <ac:chgData name="Rajnandani Patidar" userId="3c1d2b259461dfe0" providerId="LiveId" clId="{2D18DAE6-427A-4B7D-8F12-88E3E7082831}" dt="2026-06-15T21:51:19.205" v="1" actId="1076"/>
          <ac:picMkLst>
            <pc:docMk/>
            <pc:sldMk cId="0" sldId="266"/>
            <ac:picMk id="7" creationId="{00000000-0000-0000-0000-000000000000}"/>
          </ac:picMkLst>
        </pc:picChg>
        <pc:picChg chg="mod">
          <ac:chgData name="Rajnandani Patidar" userId="3c1d2b259461dfe0" providerId="LiveId" clId="{2D18DAE6-427A-4B7D-8F12-88E3E7082831}" dt="2026-06-15T21:51:33.907" v="4" actId="1076"/>
          <ac:picMkLst>
            <pc:docMk/>
            <pc:sldMk cId="0" sldId="266"/>
            <ac:picMk id="8" creationId="{00000000-0000-0000-0000-000000000000}"/>
          </ac:picMkLst>
        </pc:picChg>
        <pc:picChg chg="mod">
          <ac:chgData name="Rajnandani Patidar" userId="3c1d2b259461dfe0" providerId="LiveId" clId="{2D18DAE6-427A-4B7D-8F12-88E3E7082831}" dt="2026-06-15T21:51:40.888" v="5" actId="1076"/>
          <ac:picMkLst>
            <pc:docMk/>
            <pc:sldMk cId="0" sldId="266"/>
            <ac:picMk id="9" creationId="{00000000-0000-0000-0000-000000000000}"/>
          </ac:picMkLst>
        </pc:picChg>
        <pc:picChg chg="mod">
          <ac:chgData name="Rajnandani Patidar" userId="3c1d2b259461dfe0" providerId="LiveId" clId="{2D18DAE6-427A-4B7D-8F12-88E3E7082831}" dt="2026-06-15T21:51:47.161" v="6" actId="1076"/>
          <ac:picMkLst>
            <pc:docMk/>
            <pc:sldMk cId="0" sldId="266"/>
            <ac:picMk id="10" creationId="{00000000-0000-0000-0000-000000000000}"/>
          </ac:picMkLst>
        </pc:picChg>
        <pc:picChg chg="mod">
          <ac:chgData name="Rajnandani Patidar" userId="3c1d2b259461dfe0" providerId="LiveId" clId="{2D18DAE6-427A-4B7D-8F12-88E3E7082831}" dt="2026-06-15T21:51:50.688" v="7" actId="1076"/>
          <ac:picMkLst>
            <pc:docMk/>
            <pc:sldMk cId="0" sldId="266"/>
            <ac:picMk id="11" creationId="{00000000-0000-0000-0000-000000000000}"/>
          </ac:picMkLst>
        </pc:picChg>
      </pc:sldChg>
      <pc:sldChg chg="addSp delSp modSp mod">
        <pc:chgData name="Rajnandani Patidar" userId="3c1d2b259461dfe0" providerId="LiveId" clId="{2D18DAE6-427A-4B7D-8F12-88E3E7082831}" dt="2026-06-15T22:23:19.253" v="75" actId="1076"/>
        <pc:sldMkLst>
          <pc:docMk/>
          <pc:sldMk cId="0" sldId="267"/>
        </pc:sldMkLst>
        <pc:spChg chg="mod">
          <ac:chgData name="Rajnandani Patidar" userId="3c1d2b259461dfe0" providerId="LiveId" clId="{2D18DAE6-427A-4B7D-8F12-88E3E7082831}" dt="2026-06-15T22:10:30.742" v="36" actId="14100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Rajnandani Patidar" userId="3c1d2b259461dfe0" providerId="LiveId" clId="{2D18DAE6-427A-4B7D-8F12-88E3E7082831}" dt="2026-06-15T21:57:38.382" v="12"/>
          <ac:spMkLst>
            <pc:docMk/>
            <pc:sldMk cId="0" sldId="267"/>
            <ac:spMk id="3" creationId="{00000000-0000-0000-0000-000000000000}"/>
          </ac:spMkLst>
        </pc:spChg>
        <pc:picChg chg="add del mod">
          <ac:chgData name="Rajnandani Patidar" userId="3c1d2b259461dfe0" providerId="LiveId" clId="{2D18DAE6-427A-4B7D-8F12-88E3E7082831}" dt="2026-06-15T22:16:51.549" v="38" actId="931"/>
          <ac:picMkLst>
            <pc:docMk/>
            <pc:sldMk cId="0" sldId="267"/>
            <ac:picMk id="6" creationId="{88FB84A1-87B8-1619-BADE-24F0D6FE75D5}"/>
          </ac:picMkLst>
        </pc:picChg>
        <pc:picChg chg="add mod">
          <ac:chgData name="Rajnandani Patidar" userId="3c1d2b259461dfe0" providerId="LiveId" clId="{2D18DAE6-427A-4B7D-8F12-88E3E7082831}" dt="2026-06-15T22:23:19.253" v="75" actId="1076"/>
          <ac:picMkLst>
            <pc:docMk/>
            <pc:sldMk cId="0" sldId="267"/>
            <ac:picMk id="8" creationId="{5C9F9CAB-F110-57D7-B696-62C3D207DE9F}"/>
          </ac:picMkLst>
        </pc:picChg>
        <pc:picChg chg="add del mod">
          <ac:chgData name="Rajnandani Patidar" userId="3c1d2b259461dfe0" providerId="LiveId" clId="{2D18DAE6-427A-4B7D-8F12-88E3E7082831}" dt="2026-06-15T22:22:00.953" v="68" actId="931"/>
          <ac:picMkLst>
            <pc:docMk/>
            <pc:sldMk cId="0" sldId="267"/>
            <ac:picMk id="10" creationId="{EFBAE34A-776C-DDDF-04F0-F4F4E5291C70}"/>
          </ac:picMkLst>
        </pc:picChg>
      </pc:sldChg>
      <pc:sldChg chg="addSp delSp modSp new mod">
        <pc:chgData name="Rajnandani Patidar" userId="3c1d2b259461dfe0" providerId="LiveId" clId="{2D18DAE6-427A-4B7D-8F12-88E3E7082831}" dt="2026-06-15T22:31:08.965" v="108" actId="14100"/>
        <pc:sldMkLst>
          <pc:docMk/>
          <pc:sldMk cId="195552086" sldId="271"/>
        </pc:sldMkLst>
        <pc:spChg chg="mod">
          <ac:chgData name="Rajnandani Patidar" userId="3c1d2b259461dfe0" providerId="LiveId" clId="{2D18DAE6-427A-4B7D-8F12-88E3E7082831}" dt="2026-06-15T22:26:49.932" v="94" actId="20577"/>
          <ac:spMkLst>
            <pc:docMk/>
            <pc:sldMk cId="195552086" sldId="271"/>
            <ac:spMk id="2" creationId="{EE623D35-0AE9-2109-9A96-4005AB11F8C4}"/>
          </ac:spMkLst>
        </pc:spChg>
        <pc:picChg chg="add del mod">
          <ac:chgData name="Rajnandani Patidar" userId="3c1d2b259461dfe0" providerId="LiveId" clId="{2D18DAE6-427A-4B7D-8F12-88E3E7082831}" dt="2026-06-15T22:28:10.984" v="96" actId="931"/>
          <ac:picMkLst>
            <pc:docMk/>
            <pc:sldMk cId="195552086" sldId="271"/>
            <ac:picMk id="5" creationId="{3FD36418-205D-47F8-53F7-8852FF7B6CE4}"/>
          </ac:picMkLst>
        </pc:picChg>
        <pc:picChg chg="add del mod">
          <ac:chgData name="Rajnandani Patidar" userId="3c1d2b259461dfe0" providerId="LiveId" clId="{2D18DAE6-427A-4B7D-8F12-88E3E7082831}" dt="2026-06-15T22:29:39.326" v="98" actId="931"/>
          <ac:picMkLst>
            <pc:docMk/>
            <pc:sldMk cId="195552086" sldId="271"/>
            <ac:picMk id="7" creationId="{67202126-C9AB-AD05-4261-3FB97D0D68D8}"/>
          </ac:picMkLst>
        </pc:picChg>
        <pc:picChg chg="add mod">
          <ac:chgData name="Rajnandani Patidar" userId="3c1d2b259461dfe0" providerId="LiveId" clId="{2D18DAE6-427A-4B7D-8F12-88E3E7082831}" dt="2026-06-15T22:31:08.965" v="108" actId="14100"/>
          <ac:picMkLst>
            <pc:docMk/>
            <pc:sldMk cId="195552086" sldId="271"/>
            <ac:picMk id="9" creationId="{5D82B9B8-D949-9EF5-96D1-7132CB939249}"/>
          </ac:picMkLst>
        </pc:picChg>
      </pc:sldChg>
      <pc:sldChg chg="addSp modSp new mod">
        <pc:chgData name="Rajnandani Patidar" userId="3c1d2b259461dfe0" providerId="LiveId" clId="{2D18DAE6-427A-4B7D-8F12-88E3E7082831}" dt="2026-06-15T22:32:44.104" v="138" actId="14100"/>
        <pc:sldMkLst>
          <pc:docMk/>
          <pc:sldMk cId="2972170133" sldId="272"/>
        </pc:sldMkLst>
        <pc:spChg chg="mod">
          <ac:chgData name="Rajnandani Patidar" userId="3c1d2b259461dfe0" providerId="LiveId" clId="{2D18DAE6-427A-4B7D-8F12-88E3E7082831}" dt="2026-06-15T22:32:06.112" v="132" actId="20577"/>
          <ac:spMkLst>
            <pc:docMk/>
            <pc:sldMk cId="2972170133" sldId="272"/>
            <ac:spMk id="2" creationId="{54318C87-3ADC-BA18-7319-EA15FD649FFB}"/>
          </ac:spMkLst>
        </pc:spChg>
        <pc:picChg chg="add mod">
          <ac:chgData name="Rajnandani Patidar" userId="3c1d2b259461dfe0" providerId="LiveId" clId="{2D18DAE6-427A-4B7D-8F12-88E3E7082831}" dt="2026-06-15T22:32:44.104" v="138" actId="14100"/>
          <ac:picMkLst>
            <pc:docMk/>
            <pc:sldMk cId="2972170133" sldId="272"/>
            <ac:picMk id="5" creationId="{D9949FCE-15ED-09BF-C8ED-0558545B3996}"/>
          </ac:picMkLst>
        </pc:picChg>
      </pc:sldChg>
      <pc:sldChg chg="modSp new mod">
        <pc:chgData name="Rajnandani Patidar" userId="3c1d2b259461dfe0" providerId="LiveId" clId="{2D18DAE6-427A-4B7D-8F12-88E3E7082831}" dt="2026-06-15T22:42:52.025" v="178" actId="123"/>
        <pc:sldMkLst>
          <pc:docMk/>
          <pc:sldMk cId="3095167558" sldId="273"/>
        </pc:sldMkLst>
        <pc:spChg chg="mod">
          <ac:chgData name="Rajnandani Patidar" userId="3c1d2b259461dfe0" providerId="LiveId" clId="{2D18DAE6-427A-4B7D-8F12-88E3E7082831}" dt="2026-06-15T22:40:04.035" v="152" actId="20577"/>
          <ac:spMkLst>
            <pc:docMk/>
            <pc:sldMk cId="3095167558" sldId="273"/>
            <ac:spMk id="2" creationId="{CC42862F-1D7E-A50A-5DAB-68ED885862DC}"/>
          </ac:spMkLst>
        </pc:spChg>
        <pc:spChg chg="mod">
          <ac:chgData name="Rajnandani Patidar" userId="3c1d2b259461dfe0" providerId="LiveId" clId="{2D18DAE6-427A-4B7D-8F12-88E3E7082831}" dt="2026-06-15T22:42:52.025" v="178" actId="123"/>
          <ac:spMkLst>
            <pc:docMk/>
            <pc:sldMk cId="3095167558" sldId="273"/>
            <ac:spMk id="3" creationId="{5007FD43-5878-4114-0015-361E79CA151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50491" y="363677"/>
            <a:ext cx="4660265" cy="628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1"/>
            <a:ext cx="2847974" cy="68579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0975" cy="6858000"/>
          </a:xfrm>
          <a:custGeom>
            <a:avLst/>
            <a:gdLst/>
            <a:ahLst/>
            <a:cxnLst/>
            <a:rect l="l" t="t" r="r" b="b"/>
            <a:pathLst>
              <a:path w="180975" h="6858000">
                <a:moveTo>
                  <a:pt x="180975" y="0"/>
                </a:moveTo>
                <a:lnTo>
                  <a:pt x="0" y="0"/>
                </a:lnTo>
                <a:lnTo>
                  <a:pt x="0" y="6858000"/>
                </a:lnTo>
                <a:lnTo>
                  <a:pt x="180975" y="6858000"/>
                </a:lnTo>
                <a:lnTo>
                  <a:pt x="180975" y="0"/>
                </a:lnTo>
                <a:close/>
              </a:path>
            </a:pathLst>
          </a:custGeom>
          <a:solidFill>
            <a:srgbClr val="766D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584688" y="6248400"/>
            <a:ext cx="1588770" cy="504825"/>
          </a:xfrm>
          <a:custGeom>
            <a:avLst/>
            <a:gdLst/>
            <a:ahLst/>
            <a:cxnLst/>
            <a:rect l="l" t="t" r="r" b="b"/>
            <a:pathLst>
              <a:path w="1588770" h="504825">
                <a:moveTo>
                  <a:pt x="344423" y="0"/>
                </a:moveTo>
                <a:lnTo>
                  <a:pt x="244601" y="0"/>
                </a:lnTo>
                <a:lnTo>
                  <a:pt x="238378" y="6362"/>
                </a:lnTo>
                <a:lnTo>
                  <a:pt x="7111" y="237312"/>
                </a:lnTo>
                <a:lnTo>
                  <a:pt x="1777" y="244436"/>
                </a:lnTo>
                <a:lnTo>
                  <a:pt x="0" y="251548"/>
                </a:lnTo>
                <a:lnTo>
                  <a:pt x="1777" y="258673"/>
                </a:lnTo>
                <a:lnTo>
                  <a:pt x="7111" y="265785"/>
                </a:lnTo>
                <a:lnTo>
                  <a:pt x="235076" y="493618"/>
                </a:lnTo>
                <a:lnTo>
                  <a:pt x="240029" y="493618"/>
                </a:lnTo>
                <a:lnTo>
                  <a:pt x="240029" y="498363"/>
                </a:lnTo>
                <a:lnTo>
                  <a:pt x="244601" y="498363"/>
                </a:lnTo>
                <a:lnTo>
                  <a:pt x="249427" y="503109"/>
                </a:lnTo>
                <a:lnTo>
                  <a:pt x="1583943" y="504823"/>
                </a:lnTo>
                <a:lnTo>
                  <a:pt x="1588261" y="3530"/>
                </a:lnTo>
                <a:lnTo>
                  <a:pt x="344423" y="0"/>
                </a:lnTo>
                <a:close/>
              </a:path>
            </a:pathLst>
          </a:custGeom>
          <a:solidFill>
            <a:srgbClr val="A32E0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00" y="0"/>
            <a:ext cx="1457325" cy="124777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06150" y="0"/>
            <a:ext cx="1009650" cy="14097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62550" y="3171761"/>
            <a:ext cx="3443351" cy="57626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69535" y="3179571"/>
            <a:ext cx="3387343" cy="52387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62525" y="4076763"/>
            <a:ext cx="3519551" cy="15382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-1"/>
            <a:ext cx="2847974" cy="68579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0975" cy="6858000"/>
          </a:xfrm>
          <a:custGeom>
            <a:avLst/>
            <a:gdLst/>
            <a:ahLst/>
            <a:cxnLst/>
            <a:rect l="l" t="t" r="r" b="b"/>
            <a:pathLst>
              <a:path w="180975" h="6858000">
                <a:moveTo>
                  <a:pt x="180975" y="0"/>
                </a:moveTo>
                <a:lnTo>
                  <a:pt x="0" y="0"/>
                </a:lnTo>
                <a:lnTo>
                  <a:pt x="0" y="6858000"/>
                </a:lnTo>
                <a:lnTo>
                  <a:pt x="180975" y="6858000"/>
                </a:lnTo>
                <a:lnTo>
                  <a:pt x="180975" y="0"/>
                </a:lnTo>
                <a:close/>
              </a:path>
            </a:pathLst>
          </a:custGeom>
          <a:solidFill>
            <a:srgbClr val="766D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584688" y="6248400"/>
            <a:ext cx="1588770" cy="504825"/>
          </a:xfrm>
          <a:custGeom>
            <a:avLst/>
            <a:gdLst/>
            <a:ahLst/>
            <a:cxnLst/>
            <a:rect l="l" t="t" r="r" b="b"/>
            <a:pathLst>
              <a:path w="1588770" h="504825">
                <a:moveTo>
                  <a:pt x="344423" y="0"/>
                </a:moveTo>
                <a:lnTo>
                  <a:pt x="244601" y="0"/>
                </a:lnTo>
                <a:lnTo>
                  <a:pt x="238378" y="6362"/>
                </a:lnTo>
                <a:lnTo>
                  <a:pt x="7111" y="237312"/>
                </a:lnTo>
                <a:lnTo>
                  <a:pt x="1777" y="244436"/>
                </a:lnTo>
                <a:lnTo>
                  <a:pt x="0" y="251548"/>
                </a:lnTo>
                <a:lnTo>
                  <a:pt x="1777" y="258673"/>
                </a:lnTo>
                <a:lnTo>
                  <a:pt x="7111" y="265785"/>
                </a:lnTo>
                <a:lnTo>
                  <a:pt x="235076" y="493618"/>
                </a:lnTo>
                <a:lnTo>
                  <a:pt x="240029" y="493618"/>
                </a:lnTo>
                <a:lnTo>
                  <a:pt x="240029" y="498363"/>
                </a:lnTo>
                <a:lnTo>
                  <a:pt x="244601" y="498363"/>
                </a:lnTo>
                <a:lnTo>
                  <a:pt x="249427" y="503109"/>
                </a:lnTo>
                <a:lnTo>
                  <a:pt x="1583943" y="504823"/>
                </a:lnTo>
                <a:lnTo>
                  <a:pt x="1588261" y="3530"/>
                </a:lnTo>
                <a:lnTo>
                  <a:pt x="344423" y="0"/>
                </a:lnTo>
                <a:close/>
              </a:path>
            </a:pathLst>
          </a:custGeom>
          <a:solidFill>
            <a:srgbClr val="A32E0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2400" y="0"/>
            <a:ext cx="1457325" cy="124777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106150" y="0"/>
            <a:ext cx="1009650" cy="1409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79167" y="225044"/>
            <a:ext cx="5059299" cy="10382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11629" y="2551302"/>
            <a:ext cx="8218805" cy="3046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98529" y="6367972"/>
            <a:ext cx="369570" cy="321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rbantechinsights.com/reports/smart-parking-pricing" TargetMode="External"/><Relationship Id="rId2" Type="http://schemas.openxmlformats.org/officeDocument/2006/relationships/hyperlink" Target="https://www.smartmobilitytoday.in/urban-park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ech4urban.in/blog/user-centric-parking" TargetMode="External"/><Relationship Id="rId5" Type="http://schemas.openxmlformats.org/officeDocument/2006/relationships/hyperlink" Target="https://www.citydataindia.org/reports/ndmc-parking" TargetMode="External"/><Relationship Id="rId4" Type="http://schemas.openxmlformats.org/officeDocument/2006/relationships/hyperlink" Target="https://www.parkingnetwork.com/blog/web-based-solutions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114300"/>
            <a:ext cx="12039600" cy="6629400"/>
            <a:chOff x="0" y="0"/>
            <a:chExt cx="12039600" cy="6629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039599" cy="6629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695574" cy="6629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28575" cy="6629400"/>
            </a:xfrm>
            <a:custGeom>
              <a:avLst/>
              <a:gdLst/>
              <a:ahLst/>
              <a:cxnLst/>
              <a:rect l="l" t="t" r="r" b="b"/>
              <a:pathLst>
                <a:path w="28575" h="6629400">
                  <a:moveTo>
                    <a:pt x="0" y="6629400"/>
                  </a:moveTo>
                  <a:lnTo>
                    <a:pt x="28575" y="6629400"/>
                  </a:lnTo>
                  <a:lnTo>
                    <a:pt x="28575" y="0"/>
                  </a:lnTo>
                  <a:lnTo>
                    <a:pt x="0" y="0"/>
                  </a:lnTo>
                  <a:lnTo>
                    <a:pt x="0" y="6629400"/>
                  </a:lnTo>
                  <a:close/>
                </a:path>
              </a:pathLst>
            </a:custGeom>
            <a:solidFill>
              <a:srgbClr val="766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852164" y="1491233"/>
            <a:ext cx="4788535" cy="164365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859790" marR="843280" algn="ctr">
              <a:lnSpc>
                <a:spcPct val="102200"/>
              </a:lnSpc>
              <a:spcBef>
                <a:spcPts val="25"/>
              </a:spcBef>
            </a:pPr>
            <a:r>
              <a:rPr sz="2750" spc="80" dirty="0"/>
              <a:t> </a:t>
            </a:r>
            <a:r>
              <a:rPr sz="2750" spc="-10" dirty="0"/>
              <a:t>Presentation </a:t>
            </a:r>
            <a:br>
              <a:rPr lang="en-US" sz="2750" spc="-10" dirty="0"/>
            </a:br>
            <a:r>
              <a:rPr sz="2750" spc="-25" dirty="0"/>
              <a:t>on</a:t>
            </a:r>
            <a:endParaRPr sz="2750" dirty="0"/>
          </a:p>
          <a:p>
            <a:pPr marL="12700" marR="5080" algn="ctr">
              <a:lnSpc>
                <a:spcPct val="100000"/>
              </a:lnSpc>
              <a:spcBef>
                <a:spcPts val="305"/>
              </a:spcBef>
            </a:pPr>
            <a:r>
              <a:rPr sz="2400" b="1" dirty="0">
                <a:latin typeface="Times New Roman"/>
                <a:cs typeface="Times New Roman"/>
              </a:rPr>
              <a:t>Intelligent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Real-</a:t>
            </a:r>
            <a:r>
              <a:rPr sz="2400" b="1" dirty="0">
                <a:latin typeface="Times New Roman"/>
                <a:cs typeface="Times New Roman"/>
              </a:rPr>
              <a:t>Time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Street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Parking </a:t>
            </a:r>
            <a:r>
              <a:rPr sz="2400" b="1" dirty="0">
                <a:latin typeface="Times New Roman"/>
                <a:cs typeface="Times New Roman"/>
              </a:rPr>
              <a:t>Solutions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-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ParkHub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70242" y="4331970"/>
            <a:ext cx="1381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chemeClr val="tx1"/>
                </a:solidFill>
                <a:latin typeface="Times New Roman"/>
                <a:cs typeface="Times New Roman"/>
              </a:rPr>
              <a:t>Presented</a:t>
            </a:r>
            <a:r>
              <a:rPr sz="1800" b="1" spc="-1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By</a:t>
            </a:r>
            <a:r>
              <a:rPr sz="1800" b="1" spc="-25" dirty="0">
                <a:solidFill>
                  <a:srgbClr val="575757"/>
                </a:solidFill>
                <a:latin typeface="Times New Roman"/>
                <a:cs typeface="Times New Roman"/>
              </a:rPr>
              <a:t>: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3000" y="4268152"/>
            <a:ext cx="2076450" cy="72707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800" b="1" dirty="0">
                <a:solidFill>
                  <a:schemeClr val="tx1"/>
                </a:solidFill>
                <a:latin typeface="Times New Roman"/>
                <a:cs typeface="Times New Roman"/>
              </a:rPr>
              <a:t>Guided</a:t>
            </a:r>
            <a:r>
              <a:rPr sz="1800" b="1" spc="-5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By: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60960">
              <a:lnSpc>
                <a:spcPct val="100000"/>
              </a:lnSpc>
              <a:spcBef>
                <a:spcPts val="710"/>
              </a:spcBef>
            </a:pPr>
            <a:r>
              <a:rPr sz="1500" dirty="0">
                <a:solidFill>
                  <a:schemeClr val="tx1"/>
                </a:solidFill>
                <a:latin typeface="Times New Roman"/>
                <a:cs typeface="Times New Roman"/>
              </a:rPr>
              <a:t>Prof.</a:t>
            </a:r>
            <a:r>
              <a:rPr sz="1500" spc="-6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tx1"/>
                </a:solidFill>
                <a:latin typeface="Times New Roman"/>
                <a:cs typeface="Times New Roman"/>
              </a:rPr>
              <a:t>Pawan</a:t>
            </a:r>
            <a:r>
              <a:rPr sz="1500" spc="-3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tx1"/>
                </a:solidFill>
                <a:latin typeface="Times New Roman"/>
                <a:cs typeface="Times New Roman"/>
              </a:rPr>
              <a:t>Kumar</a:t>
            </a:r>
            <a:r>
              <a:rPr sz="1500" spc="-7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chemeClr val="tx1"/>
                </a:solidFill>
                <a:latin typeface="Times New Roman"/>
                <a:cs typeface="Times New Roman"/>
              </a:rPr>
              <a:t>Gupta</a:t>
            </a:r>
            <a:endParaRPr sz="15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0717" y="4761102"/>
            <a:ext cx="2708910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575">
              <a:lnSpc>
                <a:spcPct val="136000"/>
              </a:lnSpc>
              <a:spcBef>
                <a:spcPts val="100"/>
              </a:spcBef>
            </a:pPr>
            <a:r>
              <a:rPr sz="1500" dirty="0">
                <a:solidFill>
                  <a:schemeClr val="tx1"/>
                </a:solidFill>
                <a:latin typeface="Times New Roman"/>
                <a:cs typeface="Times New Roman"/>
              </a:rPr>
              <a:t>Nikita</a:t>
            </a:r>
            <a:r>
              <a:rPr sz="1500" spc="-5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chemeClr val="tx1"/>
                </a:solidFill>
                <a:latin typeface="Times New Roman"/>
                <a:cs typeface="Times New Roman"/>
              </a:rPr>
              <a:t>Porwal(0827IT231095) </a:t>
            </a:r>
            <a:r>
              <a:rPr sz="1500" dirty="0">
                <a:solidFill>
                  <a:schemeClr val="tx1"/>
                </a:solidFill>
                <a:latin typeface="Times New Roman"/>
                <a:cs typeface="Times New Roman"/>
              </a:rPr>
              <a:t>Rajnandani</a:t>
            </a:r>
            <a:r>
              <a:rPr sz="1500" spc="-8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chemeClr val="tx1"/>
                </a:solidFill>
                <a:latin typeface="Times New Roman"/>
                <a:cs typeface="Times New Roman"/>
              </a:rPr>
              <a:t>Patidar(0827IT231109) </a:t>
            </a:r>
            <a:r>
              <a:rPr sz="1500" dirty="0">
                <a:solidFill>
                  <a:schemeClr val="tx1"/>
                </a:solidFill>
                <a:latin typeface="Times New Roman"/>
                <a:cs typeface="Times New Roman"/>
              </a:rPr>
              <a:t>Sidhant</a:t>
            </a:r>
            <a:r>
              <a:rPr sz="1500" spc="-5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chemeClr val="tx1"/>
                </a:solidFill>
                <a:latin typeface="Times New Roman"/>
                <a:cs typeface="Times New Roman"/>
              </a:rPr>
              <a:t>Narkhede(0827IT231133) </a:t>
            </a:r>
            <a:r>
              <a:rPr sz="1500" dirty="0">
                <a:solidFill>
                  <a:schemeClr val="tx1"/>
                </a:solidFill>
                <a:latin typeface="Times New Roman"/>
                <a:cs typeface="Times New Roman"/>
              </a:rPr>
              <a:t>Vishal</a:t>
            </a:r>
            <a:r>
              <a:rPr sz="1500" spc="2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chemeClr val="tx1"/>
                </a:solidFill>
                <a:latin typeface="Times New Roman"/>
                <a:cs typeface="Times New Roman"/>
              </a:rPr>
              <a:t>Nakum</a:t>
            </a:r>
            <a:r>
              <a:rPr sz="1500" spc="-7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chemeClr val="tx1"/>
                </a:solidFill>
                <a:latin typeface="Times New Roman"/>
                <a:cs typeface="Times New Roman"/>
              </a:rPr>
              <a:t>(0827IT231147)</a:t>
            </a:r>
            <a:endParaRPr sz="15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9075" y="0"/>
            <a:ext cx="11820525" cy="1733550"/>
            <a:chOff x="219075" y="0"/>
            <a:chExt cx="11820525" cy="173355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68025" y="0"/>
              <a:ext cx="1171575" cy="17335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075" y="0"/>
              <a:ext cx="1619250" cy="13811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70175" y="486867"/>
            <a:ext cx="179768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670175" y="1000795"/>
            <a:ext cx="3137535" cy="5147562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456565" marR="1320800" indent="-456565" algn="r">
              <a:lnSpc>
                <a:spcPct val="100000"/>
              </a:lnSpc>
              <a:spcBef>
                <a:spcPts val="919"/>
              </a:spcBef>
              <a:buClr>
                <a:srgbClr val="A32E0E"/>
              </a:buClr>
              <a:buAutoNum type="arabicPeriod"/>
              <a:tabLst>
                <a:tab pos="456565" algn="l"/>
              </a:tabLst>
            </a:pPr>
            <a:r>
              <a:rPr sz="2150" spc="-10" dirty="0">
                <a:solidFill>
                  <a:schemeClr val="tx1"/>
                </a:solidFill>
                <a:latin typeface="Times New Roman"/>
                <a:cs typeface="Times New Roman"/>
              </a:rPr>
              <a:t>Introduction</a:t>
            </a:r>
            <a:endParaRPr sz="215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60680" marR="1384935" lvl="1" indent="-360680" algn="r">
              <a:lnSpc>
                <a:spcPct val="100000"/>
              </a:lnSpc>
              <a:spcBef>
                <a:spcPts val="710"/>
              </a:spcBef>
              <a:buClr>
                <a:srgbClr val="C00000"/>
              </a:buClr>
              <a:buAutoNum type="arabicPeriod"/>
              <a:tabLst>
                <a:tab pos="360680" algn="l"/>
              </a:tabLst>
            </a:pPr>
            <a:r>
              <a:rPr sz="1850" spc="-10" dirty="0">
                <a:solidFill>
                  <a:schemeClr val="tx1"/>
                </a:solidFill>
                <a:latin typeface="Times New Roman"/>
                <a:cs typeface="Times New Roman"/>
              </a:rPr>
              <a:t>Overview</a:t>
            </a:r>
            <a:endParaRPr sz="185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830580" lvl="1" indent="-36068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AutoNum type="arabicPeriod"/>
              <a:tabLst>
                <a:tab pos="830580" algn="l"/>
              </a:tabLst>
            </a:pPr>
            <a:r>
              <a:rPr sz="1850" spc="-10" dirty="0">
                <a:solidFill>
                  <a:schemeClr val="tx1"/>
                </a:solidFill>
                <a:latin typeface="Times New Roman"/>
                <a:cs typeface="Times New Roman"/>
              </a:rPr>
              <a:t>Purpose</a:t>
            </a:r>
            <a:endParaRPr sz="185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A32E0E"/>
              </a:buClr>
              <a:buAutoNum type="arabicPeriod"/>
              <a:tabLst>
                <a:tab pos="469265" algn="l"/>
              </a:tabLst>
            </a:pPr>
            <a:r>
              <a:rPr sz="2150" dirty="0">
                <a:solidFill>
                  <a:schemeClr val="tx1"/>
                </a:solidFill>
                <a:latin typeface="Times New Roman"/>
                <a:cs typeface="Times New Roman"/>
              </a:rPr>
              <a:t>Problem</a:t>
            </a:r>
            <a:r>
              <a:rPr sz="2150" spc="7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solidFill>
                  <a:schemeClr val="tx1"/>
                </a:solidFill>
                <a:latin typeface="Times New Roman"/>
                <a:cs typeface="Times New Roman"/>
              </a:rPr>
              <a:t>Statement</a:t>
            </a:r>
            <a:endParaRPr sz="215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05"/>
              </a:spcBef>
              <a:buClr>
                <a:srgbClr val="A32E0E"/>
              </a:buClr>
              <a:buAutoNum type="arabicPeriod"/>
              <a:tabLst>
                <a:tab pos="469265" algn="l"/>
              </a:tabLst>
            </a:pPr>
            <a:r>
              <a:rPr lang="en-US" sz="2150" dirty="0">
                <a:solidFill>
                  <a:schemeClr val="tx1"/>
                </a:solidFill>
                <a:latin typeface="Times New Roman"/>
                <a:cs typeface="Times New Roman"/>
              </a:rPr>
              <a:t>System Features</a:t>
            </a:r>
          </a:p>
          <a:p>
            <a:pPr marL="469265" indent="-456565">
              <a:lnSpc>
                <a:spcPct val="100000"/>
              </a:lnSpc>
              <a:spcBef>
                <a:spcPts val="505"/>
              </a:spcBef>
              <a:buClr>
                <a:srgbClr val="A32E0E"/>
              </a:buClr>
              <a:buAutoNum type="arabicPeriod"/>
              <a:tabLst>
                <a:tab pos="469265" algn="l"/>
              </a:tabLst>
            </a:pPr>
            <a:r>
              <a:rPr lang="en-US" sz="2150" dirty="0">
                <a:solidFill>
                  <a:schemeClr val="tx1"/>
                </a:solidFill>
                <a:latin typeface="Times New Roman"/>
                <a:cs typeface="Times New Roman"/>
              </a:rPr>
              <a:t>System Architecture</a:t>
            </a:r>
          </a:p>
          <a:p>
            <a:pPr marL="469265" indent="-456565">
              <a:lnSpc>
                <a:spcPct val="100000"/>
              </a:lnSpc>
              <a:spcBef>
                <a:spcPts val="505"/>
              </a:spcBef>
              <a:buClr>
                <a:srgbClr val="A32E0E"/>
              </a:buClr>
              <a:buAutoNum type="arabicPeriod"/>
              <a:tabLst>
                <a:tab pos="469265" algn="l"/>
              </a:tabLst>
            </a:pPr>
            <a:r>
              <a:rPr lang="en-US" sz="2150" dirty="0">
                <a:solidFill>
                  <a:schemeClr val="tx1"/>
                </a:solidFill>
                <a:latin typeface="Times New Roman"/>
                <a:cs typeface="Times New Roman"/>
              </a:rPr>
              <a:t>Tech Stack</a:t>
            </a:r>
          </a:p>
          <a:p>
            <a:pPr marL="469265" indent="-456565">
              <a:lnSpc>
                <a:spcPct val="100000"/>
              </a:lnSpc>
              <a:spcBef>
                <a:spcPts val="505"/>
              </a:spcBef>
              <a:buClr>
                <a:srgbClr val="A32E0E"/>
              </a:buClr>
              <a:buAutoNum type="arabicPeriod"/>
              <a:tabLst>
                <a:tab pos="469265" algn="l"/>
              </a:tabLst>
            </a:pPr>
            <a:r>
              <a:rPr lang="en-US" sz="2150" dirty="0">
                <a:solidFill>
                  <a:schemeClr val="tx1"/>
                </a:solidFill>
                <a:latin typeface="Times New Roman"/>
                <a:cs typeface="Times New Roman"/>
              </a:rPr>
              <a:t>Home Page</a:t>
            </a:r>
          </a:p>
          <a:p>
            <a:pPr marL="469265" indent="-456565">
              <a:lnSpc>
                <a:spcPct val="100000"/>
              </a:lnSpc>
              <a:spcBef>
                <a:spcPts val="505"/>
              </a:spcBef>
              <a:buClr>
                <a:srgbClr val="A32E0E"/>
              </a:buClr>
              <a:buAutoNum type="arabicPeriod"/>
              <a:tabLst>
                <a:tab pos="469265" algn="l"/>
              </a:tabLst>
            </a:pPr>
            <a:r>
              <a:rPr lang="en-US" sz="2150" dirty="0">
                <a:solidFill>
                  <a:schemeClr val="tx1"/>
                </a:solidFill>
                <a:latin typeface="Times New Roman"/>
                <a:cs typeface="Times New Roman"/>
              </a:rPr>
              <a:t>User Dashboard</a:t>
            </a:r>
          </a:p>
          <a:p>
            <a:pPr marL="469265" indent="-456565">
              <a:lnSpc>
                <a:spcPct val="100000"/>
              </a:lnSpc>
              <a:spcBef>
                <a:spcPts val="505"/>
              </a:spcBef>
              <a:buClr>
                <a:srgbClr val="A32E0E"/>
              </a:buClr>
              <a:buAutoNum type="arabicPeriod"/>
              <a:tabLst>
                <a:tab pos="469265" algn="l"/>
              </a:tabLst>
            </a:pPr>
            <a:r>
              <a:rPr lang="en-US" sz="2150" dirty="0">
                <a:solidFill>
                  <a:schemeClr val="tx1"/>
                </a:solidFill>
                <a:latin typeface="Times New Roman"/>
                <a:cs typeface="Times New Roman"/>
              </a:rPr>
              <a:t>Admin Dashboard</a:t>
            </a:r>
          </a:p>
          <a:p>
            <a:pPr marL="469265" indent="-456565">
              <a:lnSpc>
                <a:spcPct val="100000"/>
              </a:lnSpc>
              <a:spcBef>
                <a:spcPts val="505"/>
              </a:spcBef>
              <a:buClr>
                <a:srgbClr val="A32E0E"/>
              </a:buClr>
              <a:buAutoNum type="arabicPeriod"/>
              <a:tabLst>
                <a:tab pos="469265" algn="l"/>
              </a:tabLst>
            </a:pPr>
            <a:r>
              <a:rPr lang="en-US" sz="2150" dirty="0">
                <a:solidFill>
                  <a:schemeClr val="tx1"/>
                </a:solidFill>
                <a:latin typeface="Times New Roman"/>
                <a:cs typeface="Times New Roman"/>
              </a:rPr>
              <a:t>Conclusion</a:t>
            </a:r>
          </a:p>
          <a:p>
            <a:pPr marL="469265" indent="-456565">
              <a:lnSpc>
                <a:spcPct val="100000"/>
              </a:lnSpc>
              <a:spcBef>
                <a:spcPts val="505"/>
              </a:spcBef>
              <a:buClr>
                <a:srgbClr val="A32E0E"/>
              </a:buClr>
              <a:buAutoNum type="arabicPeriod"/>
              <a:tabLst>
                <a:tab pos="469265" algn="l"/>
              </a:tabLst>
            </a:pPr>
            <a:endParaRPr lang="en-US" sz="215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  <a:buClr>
                <a:srgbClr val="A32E0E"/>
              </a:buClr>
              <a:tabLst>
                <a:tab pos="469265" algn="l"/>
              </a:tabLst>
            </a:pPr>
            <a:r>
              <a:rPr sz="2150" spc="-10" dirty="0">
                <a:solidFill>
                  <a:schemeClr val="tx1"/>
                </a:solidFill>
                <a:latin typeface="Times New Roman"/>
                <a:cs typeface="Times New Roman"/>
              </a:rPr>
              <a:t>REFERENCES</a:t>
            </a:r>
            <a:endParaRPr sz="215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20" dirty="0"/>
              <a:t> </a:t>
            </a: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70280" y="1326951"/>
            <a:ext cx="10090150" cy="4531882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67665" indent="-342900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367665" algn="l"/>
              </a:tabLst>
            </a:pPr>
            <a:r>
              <a:rPr sz="1800" spc="-10" dirty="0">
                <a:solidFill>
                  <a:schemeClr val="tx1"/>
                </a:solidFill>
                <a:latin typeface="Times New Roman"/>
                <a:cs typeface="Times New Roman"/>
              </a:rPr>
              <a:t>Overview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4765" marR="5080">
              <a:spcBef>
                <a:spcPts val="1110"/>
              </a:spcBef>
            </a:pP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As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cities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grow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in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population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number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of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vehicles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in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India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spikes,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parking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space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has</a:t>
            </a:r>
            <a:r>
              <a:rPr sz="16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turned</a:t>
            </a:r>
            <a:r>
              <a:rPr sz="16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into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serious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challenge</a:t>
            </a:r>
            <a:r>
              <a:rPr sz="1600" spc="-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for</a:t>
            </a:r>
            <a:r>
              <a:rPr sz="16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authorities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citizens,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making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r>
              <a:rPr sz="16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challenge</a:t>
            </a:r>
            <a:r>
              <a:rPr sz="1600" spc="-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multifaceted.</a:t>
            </a:r>
            <a:r>
              <a:rPr sz="16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On-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street</a:t>
            </a:r>
            <a:r>
              <a:rPr sz="1600" spc="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parking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space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is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limited,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and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continuous</a:t>
            </a:r>
            <a:r>
              <a:rPr sz="1600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search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for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free</a:t>
            </a:r>
            <a:r>
              <a:rPr sz="16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parking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spots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creates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traffic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environmental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issues.</a:t>
            </a:r>
            <a:r>
              <a:rPr sz="1600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problem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of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user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frustration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gets</a:t>
            </a:r>
            <a:r>
              <a:rPr sz="16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compounded.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Smart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Vehicle</a:t>
            </a:r>
            <a:r>
              <a:rPr sz="1600" spc="-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Parking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App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solves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this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problem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monitor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open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parking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spaces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for</a:t>
            </a:r>
            <a:r>
              <a:rPr sz="16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users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to</a:t>
            </a:r>
            <a:r>
              <a:rPr sz="16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reserve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access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parking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facilities.</a:t>
            </a:r>
            <a:r>
              <a:rPr sz="1600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enables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parking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lot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administrators</a:t>
            </a:r>
            <a:endParaRPr sz="1600" dirty="0">
              <a:solidFill>
                <a:schemeClr val="tx1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160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67665" indent="-342900">
              <a:lnSpc>
                <a:spcPct val="100000"/>
              </a:lnSpc>
              <a:buAutoNum type="arabicPeriod" startAt="2"/>
              <a:tabLst>
                <a:tab pos="367665" algn="l"/>
              </a:tabLst>
            </a:pPr>
            <a:r>
              <a:rPr sz="1800" spc="-10" dirty="0">
                <a:solidFill>
                  <a:schemeClr val="tx1"/>
                </a:solidFill>
                <a:latin typeface="Times New Roman"/>
                <a:cs typeface="Times New Roman"/>
              </a:rPr>
              <a:t>Purpose</a:t>
            </a:r>
            <a:endParaRPr sz="1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4765" marR="901700">
              <a:lnSpc>
                <a:spcPts val="1540"/>
              </a:lnSpc>
              <a:spcBef>
                <a:spcPts val="1000"/>
              </a:spcBef>
            </a:pP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primary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goal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of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this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project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is</a:t>
            </a:r>
            <a:r>
              <a:rPr sz="1600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create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smart</a:t>
            </a:r>
            <a:r>
              <a:rPr sz="16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easy-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to-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use</a:t>
            </a:r>
            <a:r>
              <a:rPr sz="1600" spc="-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parking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management</a:t>
            </a:r>
            <a:r>
              <a:rPr sz="16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system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that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benefits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both</a:t>
            </a:r>
            <a:r>
              <a:rPr sz="16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administrators</a:t>
            </a:r>
            <a:r>
              <a:rPr sz="16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1600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citizens.These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are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following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purposes:</a:t>
            </a:r>
            <a:endParaRPr sz="160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67665" marR="872490" lvl="1" indent="-343535">
              <a:lnSpc>
                <a:spcPts val="1540"/>
              </a:lnSpc>
              <a:spcBef>
                <a:spcPts val="990"/>
              </a:spcBef>
              <a:buAutoNum type="arabicPeriod"/>
              <a:tabLst>
                <a:tab pos="367665" algn="l"/>
              </a:tabLst>
            </a:pP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For</a:t>
            </a:r>
            <a:r>
              <a:rPr sz="1600" spc="-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administrators,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objective</a:t>
            </a:r>
            <a:r>
              <a:rPr sz="1600" spc="-7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is</a:t>
            </a:r>
            <a:r>
              <a:rPr sz="1600" spc="-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to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manage</a:t>
            </a:r>
            <a:r>
              <a:rPr sz="1600" spc="-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parking</a:t>
            </a:r>
            <a:r>
              <a:rPr sz="1600" spc="-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lots</a:t>
            </a:r>
            <a:r>
              <a:rPr sz="1600" spc="-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efficiently,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monitor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occupancy,</a:t>
            </a:r>
            <a:r>
              <a:rPr sz="1600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earn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revenue</a:t>
            </a:r>
            <a:r>
              <a:rPr sz="1600" spc="-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through</a:t>
            </a:r>
            <a:r>
              <a:rPr sz="1600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optimal</a:t>
            </a:r>
            <a:r>
              <a:rPr sz="1600" spc="-5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utilization</a:t>
            </a:r>
            <a:r>
              <a:rPr sz="1600" spc="-7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of</a:t>
            </a:r>
            <a:r>
              <a:rPr sz="1600" spc="-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available</a:t>
            </a:r>
            <a:r>
              <a:rPr sz="1600" spc="-9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space</a:t>
            </a:r>
            <a:endParaRPr sz="160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67665" marR="259715" lvl="1" indent="-343535">
              <a:lnSpc>
                <a:spcPct val="79400"/>
              </a:lnSpc>
              <a:spcBef>
                <a:spcPts val="1025"/>
              </a:spcBef>
              <a:buAutoNum type="arabicPeriod"/>
              <a:tabLst>
                <a:tab pos="367665" algn="l"/>
              </a:tabLst>
            </a:pP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For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users,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objective</a:t>
            </a:r>
            <a:r>
              <a:rPr sz="1600" spc="-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is</a:t>
            </a:r>
            <a:r>
              <a:rPr sz="1600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offer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an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easy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method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reserve,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occupy,</a:t>
            </a:r>
            <a:r>
              <a:rPr sz="1600" spc="-1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vacate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parking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spaces</a:t>
            </a:r>
            <a:r>
              <a:rPr sz="1600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without inconvenience.</a:t>
            </a:r>
            <a:r>
              <a:rPr sz="1600" spc="-10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 marR="399415" lvl="1" indent="25400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112500"/>
              <a:buAutoNum type="arabicPeriod"/>
              <a:tabLst>
                <a:tab pos="266700" algn="l"/>
              </a:tabLst>
            </a:pP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By</a:t>
            </a:r>
            <a:r>
              <a:rPr sz="1600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minimizing</a:t>
            </a:r>
            <a:r>
              <a:rPr sz="1600" spc="-6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search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time,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managing</a:t>
            </a:r>
            <a:r>
              <a:rPr sz="1600" spc="-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congestion,</a:t>
            </a:r>
            <a:r>
              <a:rPr sz="1600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providing</a:t>
            </a:r>
            <a:r>
              <a:rPr sz="1600" spc="-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fair</a:t>
            </a:r>
            <a:r>
              <a:rPr sz="1600" spc="-4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pricing,</a:t>
            </a:r>
            <a:r>
              <a:rPr sz="1600" spc="-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project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aims</a:t>
            </a:r>
            <a:r>
              <a:rPr sz="1600" spc="-5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to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make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chemeClr val="tx1"/>
                </a:solidFill>
                <a:latin typeface="Arial MT"/>
                <a:cs typeface="Arial MT"/>
              </a:rPr>
              <a:t>city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parking</a:t>
            </a:r>
            <a:r>
              <a:rPr sz="1600" spc="-4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more</a:t>
            </a:r>
            <a:r>
              <a:rPr sz="1600" spc="-3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structured,</a:t>
            </a:r>
            <a:r>
              <a:rPr sz="1600" spc="-2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transparent,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chemeClr val="tx1"/>
                </a:solidFill>
                <a:latin typeface="Arial MT"/>
                <a:cs typeface="Arial MT"/>
              </a:rPr>
              <a:t>and</a:t>
            </a:r>
            <a:r>
              <a:rPr sz="1600" spc="-3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chemeClr val="tx1"/>
                </a:solidFill>
                <a:latin typeface="Arial MT"/>
                <a:cs typeface="Arial MT"/>
              </a:rPr>
              <a:t>sustainable.</a:t>
            </a:r>
            <a:endParaRPr sz="160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2909" rIns="0" bIns="0" rtlCol="0">
            <a:spAutoFit/>
          </a:bodyPr>
          <a:lstStyle/>
          <a:p>
            <a:pPr marL="70739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2</a:t>
            </a:r>
            <a:r>
              <a:rPr dirty="0"/>
              <a:t>.</a:t>
            </a:r>
            <a:r>
              <a:rPr spc="-60" dirty="0"/>
              <a:t> </a:t>
            </a:r>
            <a:r>
              <a:rPr dirty="0"/>
              <a:t>Problem</a:t>
            </a:r>
            <a:r>
              <a:rPr spc="3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295400" y="2030628"/>
            <a:ext cx="9077325" cy="478207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en-US" sz="1600" dirty="0"/>
              <a:t>Although several parking management solutions are available in Indian cities, most existing systems lack a simple, accessible, and user-centric digital platform for efficient parking management. Many solutions depend heavily on expensive physical infrastructure and provide limited convenience for end users.</a:t>
            </a:r>
          </a:p>
          <a:p>
            <a:endParaRPr lang="en-US" sz="1600" dirty="0"/>
          </a:p>
          <a:p>
            <a:r>
              <a:rPr lang="en-US" sz="1600" b="1" dirty="0"/>
              <a:t>The key limitations identified are: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Lack of a web-based platform for easy parking slot discovery and reservation.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Dependence on costly hardware and infrastructure-intensive implementations.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Absence of dynamic pricing mechanisms based on real-time parking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Limited visibility of parking availability for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Lack of an intuitive dashboard for monitoring and managing parking operations.</a:t>
            </a:r>
          </a:p>
          <a:p>
            <a:endParaRPr lang="en-US" dirty="0"/>
          </a:p>
          <a:p>
            <a:r>
              <a:rPr lang="en-US" sz="1600" dirty="0"/>
              <a:t>These limitations result in inefficient parking space utilization, increased search time, traffic congestion, and poor user experience. The proposed </a:t>
            </a:r>
            <a:r>
              <a:rPr lang="en-US" sz="1600" dirty="0" err="1"/>
              <a:t>ParkHub</a:t>
            </a:r>
            <a:r>
              <a:rPr lang="en-US" sz="1600" dirty="0"/>
              <a:t> system aims to address these challenges through a web-based smart parking platform offering real-time availability tracking, online reservations, dynamic pricing, and comprehensive dashboards for users and administrators.</a:t>
            </a: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81200" y="228600"/>
            <a:ext cx="5059299" cy="722249"/>
          </a:xfrm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254635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3</a:t>
            </a:r>
            <a:r>
              <a:rPr dirty="0"/>
              <a:t>.</a:t>
            </a:r>
            <a:r>
              <a:rPr spc="-50" dirty="0"/>
              <a:t> </a:t>
            </a:r>
            <a:r>
              <a:rPr lang="en-US" dirty="0"/>
              <a:t>System Features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1752600"/>
            <a:ext cx="9985756" cy="4412746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8419">
              <a:lnSpc>
                <a:spcPts val="1989"/>
              </a:lnSpc>
              <a:spcBef>
                <a:spcPts val="210"/>
              </a:spcBef>
            </a:pPr>
            <a:r>
              <a:rPr lang="en-US" sz="1600" dirty="0">
                <a:solidFill>
                  <a:schemeClr val="tx1"/>
                </a:solidFill>
              </a:rPr>
              <a:t>The proposed system, </a:t>
            </a:r>
            <a:r>
              <a:rPr lang="en-US" sz="1600" b="1" dirty="0" err="1">
                <a:solidFill>
                  <a:schemeClr val="tx1"/>
                </a:solidFill>
              </a:rPr>
              <a:t>ParkHub</a:t>
            </a:r>
            <a:r>
              <a:rPr lang="en-US" sz="1600" dirty="0">
                <a:solidFill>
                  <a:schemeClr val="tx1"/>
                </a:solidFill>
              </a:rPr>
              <a:t>, is a web-based smart parking management platform developed using the </a:t>
            </a:r>
            <a:r>
              <a:rPr lang="en-US" sz="1600" b="1" dirty="0">
                <a:solidFill>
                  <a:schemeClr val="tx1"/>
                </a:solidFill>
              </a:rPr>
              <a:t>MERN Stack (MongoDB, Express.js, React.js, and Node.js)</a:t>
            </a:r>
            <a:r>
              <a:rPr lang="en-US" sz="1600" dirty="0">
                <a:solidFill>
                  <a:schemeClr val="tx1"/>
                </a:solidFill>
              </a:rPr>
              <a:t>. It enables users to easily find, reserve, and manage parking spaces while allowing administrators to monitor and control parking operations efficiently.</a:t>
            </a:r>
          </a:p>
          <a:p>
            <a:pPr marL="12700" marR="58419">
              <a:lnSpc>
                <a:spcPts val="1989"/>
              </a:lnSpc>
              <a:spcBef>
                <a:spcPts val="21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12700" marR="58419">
              <a:lnSpc>
                <a:spcPts val="1989"/>
              </a:lnSpc>
              <a:spcBef>
                <a:spcPts val="210"/>
              </a:spcBef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The</a:t>
            </a:r>
            <a:r>
              <a:rPr lang="en-US" spc="-6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platform</a:t>
            </a:r>
            <a:r>
              <a:rPr lang="en-US" spc="-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will</a:t>
            </a:r>
            <a:r>
              <a:rPr lang="en-US" spc="-5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include</a:t>
            </a:r>
            <a:r>
              <a:rPr lang="en-US" spc="-5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Times New Roman"/>
                <a:cs typeface="Times New Roman"/>
              </a:rPr>
              <a:t>the</a:t>
            </a:r>
            <a:r>
              <a:rPr lang="en-US" spc="-10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following</a:t>
            </a:r>
            <a:r>
              <a:rPr lang="en-US" spc="-5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Times New Roman"/>
                <a:cs typeface="Times New Roman"/>
              </a:rPr>
              <a:t>features:</a:t>
            </a:r>
          </a:p>
          <a:p>
            <a:pPr marL="12700" marR="58419">
              <a:lnSpc>
                <a:spcPts val="1989"/>
              </a:lnSpc>
              <a:spcBef>
                <a:spcPts val="210"/>
              </a:spcBef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551180" indent="-165100">
              <a:lnSpc>
                <a:spcPct val="100000"/>
              </a:lnSpc>
              <a:spcBef>
                <a:spcPts val="994"/>
              </a:spcBef>
              <a:buSzPct val="88888"/>
              <a:buAutoNum type="arabicPeriod"/>
              <a:tabLst>
                <a:tab pos="551180" algn="l"/>
              </a:tabLst>
            </a:pPr>
            <a:r>
              <a:rPr lang="en-US" sz="1600" b="1" dirty="0">
                <a:solidFill>
                  <a:schemeClr val="tx1"/>
                </a:solidFill>
              </a:rPr>
              <a:t>User Registration &amp; Authentication:</a:t>
            </a:r>
            <a:r>
              <a:rPr lang="en-US" sz="1600" dirty="0">
                <a:solidFill>
                  <a:schemeClr val="tx1"/>
                </a:solidFill>
              </a:rPr>
              <a:t> Secure signup, login, and profile management for users.</a:t>
            </a:r>
          </a:p>
          <a:p>
            <a:pPr marL="551180" indent="-165100">
              <a:lnSpc>
                <a:spcPct val="100000"/>
              </a:lnSpc>
              <a:spcBef>
                <a:spcPts val="994"/>
              </a:spcBef>
              <a:buSzPct val="88888"/>
              <a:buAutoNum type="arabicPeriod"/>
              <a:tabLst>
                <a:tab pos="551180" algn="l"/>
              </a:tabLst>
            </a:pPr>
            <a:r>
              <a:rPr lang="en-US" sz="1600" b="1" dirty="0"/>
              <a:t>Real-Time Parking Availability:</a:t>
            </a:r>
            <a:r>
              <a:rPr lang="en-US" sz="1600" dirty="0"/>
              <a:t> Display available and occupied parking slots across different parking locations.</a:t>
            </a:r>
          </a:p>
          <a:p>
            <a:pPr marL="551180" indent="-165100">
              <a:lnSpc>
                <a:spcPct val="100000"/>
              </a:lnSpc>
              <a:spcBef>
                <a:spcPts val="994"/>
              </a:spcBef>
              <a:buSzPct val="88888"/>
              <a:buAutoNum type="arabicPeriod"/>
              <a:tabLst>
                <a:tab pos="551180" algn="l"/>
              </a:tabLst>
            </a:pPr>
            <a:r>
              <a:rPr lang="en-US" sz="1600" b="1" dirty="0"/>
              <a:t>Parking Slot Reservation:</a:t>
            </a:r>
            <a:r>
              <a:rPr lang="en-US" sz="1600" dirty="0"/>
              <a:t> Allow users to search, select, and reserve parking spots in advance.</a:t>
            </a:r>
          </a:p>
          <a:p>
            <a:pPr marL="551180" indent="-165100">
              <a:lnSpc>
                <a:spcPct val="100000"/>
              </a:lnSpc>
              <a:spcBef>
                <a:spcPts val="994"/>
              </a:spcBef>
              <a:buSzPct val="88888"/>
              <a:buAutoNum type="arabicPeriod"/>
              <a:tabLst>
                <a:tab pos="551180" algn="l"/>
              </a:tabLst>
            </a:pPr>
            <a:r>
              <a:rPr lang="en-US" sz="1600" b="1" dirty="0"/>
              <a:t>Parking Session Management:</a:t>
            </a:r>
            <a:r>
              <a:rPr lang="en-US" sz="1600" dirty="0"/>
              <a:t> Enable users to occupy and release parking slots while automatically tracking parking duration.</a:t>
            </a:r>
          </a:p>
          <a:p>
            <a:pPr marL="551180" indent="-165100">
              <a:lnSpc>
                <a:spcPct val="100000"/>
              </a:lnSpc>
              <a:spcBef>
                <a:spcPts val="994"/>
              </a:spcBef>
              <a:buSzPct val="88888"/>
              <a:buAutoNum type="arabicPeriod"/>
              <a:tabLst>
                <a:tab pos="551180" algn="l"/>
              </a:tabLst>
            </a:pPr>
            <a:r>
              <a:rPr lang="en-US" sz="1600" b="1" dirty="0"/>
              <a:t>Booking History:</a:t>
            </a:r>
            <a:r>
              <a:rPr lang="en-US" sz="1600" dirty="0"/>
              <a:t> Maintain records of previous bookings, parking duration, and parking charges.</a:t>
            </a:r>
          </a:p>
          <a:p>
            <a:pPr marL="386080">
              <a:lnSpc>
                <a:spcPct val="100000"/>
              </a:lnSpc>
              <a:spcBef>
                <a:spcPts val="994"/>
              </a:spcBef>
              <a:buSzPct val="88888"/>
              <a:tabLst>
                <a:tab pos="551180" algn="l"/>
              </a:tabLst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79167" y="225044"/>
            <a:ext cx="5059299" cy="722249"/>
          </a:xfrm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254635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 </a:t>
            </a:r>
            <a:r>
              <a:rPr lang="en-US" dirty="0"/>
              <a:t>System Features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277874" y="1465579"/>
            <a:ext cx="9349740" cy="48435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85"/>
              </a:spcBef>
              <a:tabLst>
                <a:tab pos="247015" algn="l"/>
              </a:tabLst>
            </a:pPr>
            <a:r>
              <a:rPr lang="en-US" sz="1600" b="1" dirty="0"/>
              <a:t>6.Admin Dashboard:</a:t>
            </a:r>
            <a:r>
              <a:rPr lang="en-US" sz="1600" dirty="0"/>
              <a:t> Provide administrators with facilities to create, update, and manage parking lots and parking spaces.</a:t>
            </a:r>
          </a:p>
          <a:p>
            <a:pPr marL="12700" marR="5080">
              <a:lnSpc>
                <a:spcPct val="150000"/>
              </a:lnSpc>
              <a:spcBef>
                <a:spcPts val="85"/>
              </a:spcBef>
              <a:tabLst>
                <a:tab pos="247015" algn="l"/>
              </a:tabLst>
            </a:pPr>
            <a:r>
              <a:rPr lang="en-US" sz="1600" b="1" dirty="0"/>
              <a:t>7.Search &amp; Filter Features:</a:t>
            </a:r>
            <a:r>
              <a:rPr lang="en-US" sz="1600" dirty="0"/>
              <a:t> Allow quick searching of parking lots, parking slots, and booking information.</a:t>
            </a:r>
          </a:p>
          <a:p>
            <a:pPr marL="12700" marR="5080">
              <a:lnSpc>
                <a:spcPct val="150000"/>
              </a:lnSpc>
              <a:spcBef>
                <a:spcPts val="85"/>
              </a:spcBef>
              <a:tabLst>
                <a:tab pos="247015" algn="l"/>
              </a:tabLst>
            </a:pPr>
            <a:r>
              <a:rPr lang="en-US" sz="1600" b="1" dirty="0"/>
              <a:t>8.Analytics &amp; Reports:</a:t>
            </a:r>
            <a:r>
              <a:rPr lang="en-US" sz="1600" dirty="0"/>
              <a:t> Generate visual reports showing occupancy status, parking utilization, and booking trends.</a:t>
            </a:r>
          </a:p>
          <a:p>
            <a:pPr marL="12700" marR="5080">
              <a:lnSpc>
                <a:spcPct val="150000"/>
              </a:lnSpc>
              <a:spcBef>
                <a:spcPts val="85"/>
              </a:spcBef>
              <a:tabLst>
                <a:tab pos="247015" algn="l"/>
              </a:tabLst>
            </a:pPr>
            <a:r>
              <a:rPr lang="en-US" sz="1600" b="1" dirty="0"/>
              <a:t>9.Responsive User Interface:</a:t>
            </a:r>
            <a:r>
              <a:rPr lang="en-US" sz="1600" dirty="0"/>
              <a:t> Ensure seamless access across desktops, tablets, and mobile devices.</a:t>
            </a:r>
          </a:p>
          <a:p>
            <a:pPr marL="12700" marR="5080">
              <a:lnSpc>
                <a:spcPct val="150000"/>
              </a:lnSpc>
              <a:spcBef>
                <a:spcPts val="85"/>
              </a:spcBef>
              <a:tabLst>
                <a:tab pos="247015" algn="l"/>
              </a:tabLst>
            </a:pPr>
            <a:r>
              <a:rPr lang="en-US" sz="1600" b="1" dirty="0"/>
              <a:t>10.Secure Data Management:</a:t>
            </a:r>
            <a:r>
              <a:rPr lang="en-US" sz="1600" dirty="0"/>
              <a:t> Implement role-based access control and secure storage of user and booking information.</a:t>
            </a:r>
          </a:p>
          <a:p>
            <a:pPr marL="12700" marR="5080">
              <a:lnSpc>
                <a:spcPct val="150000"/>
              </a:lnSpc>
              <a:spcBef>
                <a:spcPts val="85"/>
              </a:spcBef>
              <a:tabLst>
                <a:tab pos="247015" algn="l"/>
              </a:tabLst>
            </a:pPr>
            <a:r>
              <a:rPr lang="en-US" sz="1600" b="1" dirty="0"/>
              <a:t>11.Scalable Architecture:</a:t>
            </a:r>
            <a:r>
              <a:rPr lang="en-US" sz="1600" dirty="0"/>
              <a:t> Support future enhancements such as online payments, GPS-based navigation, and smart-city integrations.</a:t>
            </a:r>
          </a:p>
          <a:p>
            <a:pPr marL="12700" marR="5080">
              <a:lnSpc>
                <a:spcPct val="150000"/>
              </a:lnSpc>
              <a:spcBef>
                <a:spcPts val="85"/>
              </a:spcBef>
              <a:tabLst>
                <a:tab pos="247015" algn="l"/>
              </a:tabLst>
            </a:pPr>
            <a:r>
              <a:rPr lang="en-US" sz="1600" b="1" dirty="0"/>
              <a:t>12.Payment Gateway Integration:</a:t>
            </a:r>
            <a:r>
              <a:rPr lang="en-US" sz="1600" dirty="0"/>
              <a:t> Supports secure online payments for parking bookings and automatic transaction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5488433" cy="1034898"/>
          </a:xfrm>
          <a:prstGeom prst="rect">
            <a:avLst/>
          </a:prstGeom>
        </p:spPr>
        <p:txBody>
          <a:bodyPr vert="horz" wrap="square" lIns="0" tIns="422909" rIns="0" bIns="0" rtlCol="0">
            <a:spAutoFit/>
          </a:bodyPr>
          <a:lstStyle/>
          <a:p>
            <a:pPr marL="707390">
              <a:lnSpc>
                <a:spcPct val="100000"/>
              </a:lnSpc>
              <a:spcBef>
                <a:spcPts val="95"/>
              </a:spcBef>
            </a:pPr>
            <a:r>
              <a:rPr dirty="0"/>
              <a:t>5.</a:t>
            </a:r>
            <a:r>
              <a:rPr spc="-20" dirty="0"/>
              <a:t> </a:t>
            </a:r>
            <a:r>
              <a:rPr lang="en-US" spc="-10" dirty="0"/>
              <a:t>System Architecture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C28737-9A60-E3D5-31BF-95896CA67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524000"/>
            <a:ext cx="883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C86B0C-F721-7B5D-32A9-5B4EF320017E}"/>
              </a:ext>
            </a:extLst>
          </p:cNvPr>
          <p:cNvSpPr txBox="1"/>
          <p:nvPr/>
        </p:nvSpPr>
        <p:spPr>
          <a:xfrm>
            <a:off x="2438400" y="990600"/>
            <a:ext cx="77724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 err="1"/>
              <a:t>ParkHub</a:t>
            </a:r>
            <a:r>
              <a:rPr lang="en-US" sz="1600" dirty="0"/>
              <a:t> is a web-based smart parking management system designed to provide real-time parking discovery, slot reservation, and occupancy monitoring. The system follows a three-tier architecture consisting of the Presentation Layer, Application Layer, and Data Layer.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dirty="0"/>
              <a:t>Frontend Layer</a:t>
            </a:r>
            <a:r>
              <a:rPr lang="en-US" sz="1600" dirty="0"/>
              <a:t> is developed using </a:t>
            </a:r>
            <a:r>
              <a:rPr lang="en-US" sz="1600" b="1" dirty="0"/>
              <a:t>React.js</a:t>
            </a:r>
            <a:r>
              <a:rPr lang="en-US" sz="1600" dirty="0"/>
              <a:t> and </a:t>
            </a:r>
            <a:r>
              <a:rPr lang="en-US" sz="1600" b="1" dirty="0"/>
              <a:t>Tailwind CSS</a:t>
            </a:r>
            <a:r>
              <a:rPr lang="en-US" sz="1600" dirty="0"/>
              <a:t>, providing an interactive interface for users and administrators. Users can search for parking lots, reserve slots, and view booking history, while administrators can manage parking lots, bookings, and system reports.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dirty="0"/>
              <a:t>Backend Layer</a:t>
            </a:r>
            <a:r>
              <a:rPr lang="en-US" sz="1600" dirty="0"/>
              <a:t> is built using </a:t>
            </a:r>
            <a:r>
              <a:rPr lang="en-US" sz="1600" b="1" dirty="0"/>
              <a:t>Node.js</a:t>
            </a:r>
            <a:r>
              <a:rPr lang="en-US" sz="1600" dirty="0"/>
              <a:t> and </a:t>
            </a:r>
            <a:r>
              <a:rPr lang="en-US" sz="1600" b="1" dirty="0"/>
              <a:t>Express.js</a:t>
            </a:r>
            <a:r>
              <a:rPr lang="en-US" sz="1600" dirty="0"/>
              <a:t>, which handle authentication, parking lot management, booking operations, dynamic pricing calculations, and analytics generation. This layer processes user requests and enforces business logic.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dirty="0"/>
              <a:t>Database Layer</a:t>
            </a:r>
            <a:r>
              <a:rPr lang="en-US" sz="1600" dirty="0"/>
              <a:t> uses </a:t>
            </a:r>
            <a:r>
              <a:rPr lang="en-US" sz="1600" b="1" dirty="0"/>
              <a:t>MongoDB</a:t>
            </a:r>
            <a:r>
              <a:rPr lang="en-US" sz="1600" dirty="0"/>
              <a:t> to store user information, parking lot details, parking spot availability, booking records, and activity logs. It ensures efficient data retrieval and real-time updates</a:t>
            </a:r>
            <a:r>
              <a:rPr lang="en-US" dirty="0"/>
              <a:t>. </a:t>
            </a:r>
          </a:p>
          <a:p>
            <a:endParaRPr lang="en-US" dirty="0"/>
          </a:p>
          <a:p>
            <a:pPr>
              <a:buNone/>
            </a:pPr>
            <a:r>
              <a:rPr lang="en-US" sz="1600" dirty="0"/>
              <a:t>The architecture enables secure communication between components, supports dynamic pricing based on occupancy levels, and provides real-time parking availability, resulting in an efficient and scalable parking management solution.</a:t>
            </a:r>
          </a:p>
        </p:txBody>
      </p:sp>
    </p:spTree>
    <p:extLst>
      <p:ext uri="{BB962C8B-B14F-4D97-AF65-F5344CB8AC3E}">
        <p14:creationId xmlns:p14="http://schemas.microsoft.com/office/powerpoint/2010/main" val="3322138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79167" y="225044"/>
            <a:ext cx="5059299" cy="666848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95"/>
              </a:spcBef>
            </a:pPr>
            <a:r>
              <a:rPr dirty="0"/>
              <a:t>6.</a:t>
            </a:r>
            <a:r>
              <a:rPr spc="-110" dirty="0"/>
              <a:t> </a:t>
            </a:r>
            <a:r>
              <a:rPr dirty="0"/>
              <a:t>T</a:t>
            </a:r>
            <a:r>
              <a:rPr lang="en-US" dirty="0"/>
              <a:t>ECH STACK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11249" y="1161534"/>
            <a:ext cx="3330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6.3</a:t>
            </a:r>
            <a:r>
              <a:rPr sz="2400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Software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Requirements</a:t>
            </a:r>
            <a:endParaRPr sz="240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991356"/>
              </p:ext>
            </p:extLst>
          </p:nvPr>
        </p:nvGraphicFramePr>
        <p:xfrm>
          <a:off x="1217962" y="1687131"/>
          <a:ext cx="9756076" cy="5112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Category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sz="1800" b="1" spc="-4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  <a:endParaRPr sz="1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Frontend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1526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0485" marR="483870">
                        <a:lnSpc>
                          <a:spcPct val="101099"/>
                        </a:lnSpc>
                        <a:spcBef>
                          <a:spcPts val="465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React.js:</a:t>
                      </a:r>
                      <a:r>
                        <a:rPr sz="1800" b="1" spc="-9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Dynamic,</a:t>
                      </a:r>
                      <a:r>
                        <a:rPr sz="1800" spc="-1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responsive</a:t>
                      </a:r>
                      <a:r>
                        <a:rPr sz="1800" spc="-7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pages</a:t>
                      </a:r>
                      <a:r>
                        <a:rPr sz="1800" spc="-7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HTML5,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CSS3,</a:t>
                      </a:r>
                      <a:r>
                        <a:rPr sz="1800" b="1" spc="-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JS:</a:t>
                      </a:r>
                      <a:r>
                        <a:rPr sz="1800" b="1" spc="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Structure,</a:t>
                      </a:r>
                      <a:r>
                        <a:rPr sz="1800" spc="-4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styling,</a:t>
                      </a:r>
                      <a:r>
                        <a:rPr sz="1800" spc="-4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interactivity</a:t>
                      </a:r>
                      <a:endParaRPr sz="1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Backend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5811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0485" marR="795020">
                        <a:lnSpc>
                          <a:spcPct val="101099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Node.js</a:t>
                      </a:r>
                      <a:r>
                        <a:rPr sz="1800" b="1" spc="-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b="1" spc="-6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Express:</a:t>
                      </a:r>
                      <a:r>
                        <a:rPr sz="1800" b="1" spc="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Server-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side</a:t>
                      </a:r>
                      <a:r>
                        <a:rPr sz="1800" spc="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logic,</a:t>
                      </a:r>
                      <a:r>
                        <a:rPr sz="1800" spc="-17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APIs,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1800" spc="-10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handling</a:t>
                      </a:r>
                      <a:endParaRPr sz="1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Database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8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MongoDB:</a:t>
                      </a:r>
                      <a:r>
                        <a:rPr sz="1800" b="1" spc="-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Store users, parking lots, parking spots, bookings, and activity logs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Authentication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600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0485" marR="272415">
                        <a:lnSpc>
                          <a:spcPct val="101099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JWT</a:t>
                      </a:r>
                      <a:r>
                        <a:rPr sz="1800" b="1" spc="-4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7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OAuth: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Secure authentication and password encryption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8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sz="18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Tools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0485" marR="381635">
                        <a:lnSpc>
                          <a:spcPct val="101099"/>
                        </a:lnSpc>
                        <a:spcBef>
                          <a:spcPts val="35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VS</a:t>
                      </a:r>
                      <a:r>
                        <a:rPr sz="1800" b="1" spc="-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Code:</a:t>
                      </a:r>
                      <a:r>
                        <a:rPr sz="1800" b="1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1800" spc="-1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editor</a:t>
                      </a:r>
                      <a:r>
                        <a:rPr sz="1800" spc="-8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Git</a:t>
                      </a:r>
                      <a:r>
                        <a:rPr sz="1800" b="1" spc="-4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GitHub:</a:t>
                      </a:r>
                      <a:r>
                        <a:rPr sz="1800" b="1" spc="-7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Version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1800" spc="-4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spc="-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collaboration</a:t>
                      </a:r>
                      <a:r>
                        <a:rPr sz="1800" spc="-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Postman:</a:t>
                      </a:r>
                      <a:r>
                        <a:rPr sz="1800" b="1" spc="-9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API</a:t>
                      </a:r>
                      <a:r>
                        <a:rPr sz="1800" spc="-2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800" spc="-5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&amp;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debugging</a:t>
                      </a:r>
                      <a:endParaRPr sz="180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Hosting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Deployment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Netlify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(Frontend) &amp;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Render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(Backend): Application deployment and hosting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087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Browser</a:t>
                      </a:r>
                      <a:r>
                        <a:rPr sz="18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Support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Chrome,</a:t>
                      </a:r>
                      <a:r>
                        <a:rPr sz="1800" b="1" spc="-6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Edge,</a:t>
                      </a:r>
                      <a:r>
                        <a:rPr sz="1800" b="1" spc="-3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Firefox:</a:t>
                      </a:r>
                      <a:r>
                        <a:rPr sz="1800" b="1" spc="-5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Ensure</a:t>
                      </a:r>
                      <a:r>
                        <a:rPr sz="1800" spc="-4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compatibility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800" spc="-8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major</a:t>
                      </a:r>
                      <a:r>
                        <a:rPr sz="1800" spc="-35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browsers</a:t>
                      </a:r>
                      <a:endParaRPr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3119" y="2186654"/>
            <a:ext cx="595312" cy="4810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5488" y="2896483"/>
            <a:ext cx="595312" cy="4810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93119" y="3453414"/>
            <a:ext cx="595312" cy="4810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27210" y="4153285"/>
            <a:ext cx="595312" cy="4810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12664" y="4903044"/>
            <a:ext cx="595312" cy="4810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79057" y="5610773"/>
            <a:ext cx="595312" cy="48101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24866" y="6285545"/>
            <a:ext cx="595312" cy="48101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623293" y="6367972"/>
            <a:ext cx="306070" cy="32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000" spc="25" dirty="0">
                <a:solidFill>
                  <a:srgbClr val="FFFFFF"/>
                </a:solidFill>
                <a:latin typeface="Trebuchet MS"/>
                <a:cs typeface="Trebuchet MS"/>
              </a:rPr>
              <a:t>11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40126" y="370154"/>
            <a:ext cx="2989073" cy="6206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7.Home Page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9F9CAB-F110-57D7-B696-62C3D207D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491173"/>
            <a:ext cx="7239000" cy="48767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23D35-0AE9-2109-9A96-4005AB11F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167" y="225044"/>
            <a:ext cx="5059299" cy="607859"/>
          </a:xfrm>
        </p:spPr>
        <p:txBody>
          <a:bodyPr/>
          <a:lstStyle/>
          <a:p>
            <a:r>
              <a:rPr lang="en-US" dirty="0"/>
              <a:t>8.USER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CFE19-2274-8AE3-AEEC-B7F57E5A3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82B9B8-D949-9EF5-96D1-7132CB939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371600"/>
            <a:ext cx="84582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2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18C87-3ADC-BA18-7319-EA15FD649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167" y="225044"/>
            <a:ext cx="5059299" cy="607859"/>
          </a:xfrm>
        </p:spPr>
        <p:txBody>
          <a:bodyPr/>
          <a:lstStyle/>
          <a:p>
            <a:r>
              <a:rPr lang="en-US" dirty="0"/>
              <a:t>9.Admin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ACDA-CE8D-D180-73D0-B0DF5D7CC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949FCE-15ED-09BF-C8ED-0558545B3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167" y="1524000"/>
            <a:ext cx="8536434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70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2862F-1D7E-A50A-5DAB-68ED88586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167" y="225044"/>
            <a:ext cx="5059299" cy="607859"/>
          </a:xfrm>
        </p:spPr>
        <p:txBody>
          <a:bodyPr/>
          <a:lstStyle/>
          <a:p>
            <a:r>
              <a:rPr lang="en-US" dirty="0"/>
              <a:t>10.Conclusion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7FD43-5878-4114-0015-361E79CA1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2600" y="1143000"/>
            <a:ext cx="8382000" cy="4708981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ParkHub</a:t>
            </a:r>
            <a:r>
              <a:rPr lang="en-US" dirty="0"/>
              <a:t> provides a smart, efficient, and user-friendly solution for parking management.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enables real-time parking availability tracking, online reservations, dynamic pricing, and secure payments.</a:t>
            </a:r>
          </a:p>
          <a:p>
            <a:r>
              <a:rPr lang="en-US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It reduces parking search time, improves parking space utilization, and minimizes traffic congestion.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Admin Dashboard facilitates effective monitoring and management of parking operations.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using the MERN stack, the platform is scalable, secure, and capable of supporting future smart-city integrations.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167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74111" y="635888"/>
            <a:ext cx="3159760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604769" y="1660093"/>
            <a:ext cx="18694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Crisis,”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Jan.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2026.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9747" y="1660093"/>
            <a:ext cx="776985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[1].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Smart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Mobility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Today,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“How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Cities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Tackling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Urban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Parking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u="sng" spc="-10" dirty="0">
                <a:solidFill>
                  <a:srgbClr val="F94817"/>
                </a:solidFill>
                <a:uFill>
                  <a:solidFill>
                    <a:srgbClr val="F94817"/>
                  </a:solidFill>
                </a:uFill>
                <a:latin typeface="Arial MT"/>
                <a:cs typeface="Arial MT"/>
                <a:hlinkClick r:id="rId2"/>
              </a:rPr>
              <a:t>https://www.smartmobilitytoday.in/urban-parking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9747" y="2483611"/>
            <a:ext cx="979233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002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[2].</a:t>
            </a:r>
            <a:r>
              <a:rPr sz="1800" spc="4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Urban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Tech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Insights,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“Dynamic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Smart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Systems,” Whitepaper,Sept.2022,Available: </a:t>
            </a:r>
            <a:r>
              <a:rPr sz="1800" u="sng" spc="-10" dirty="0">
                <a:solidFill>
                  <a:srgbClr val="F94817"/>
                </a:solidFill>
                <a:uFill>
                  <a:solidFill>
                    <a:srgbClr val="F94817"/>
                  </a:solidFill>
                </a:uFill>
                <a:latin typeface="Arial MT"/>
                <a:cs typeface="Arial MT"/>
                <a:hlinkClick r:id="rId3"/>
              </a:rPr>
              <a:t>https://www.urbantechinsights.com/reports/smart-parking-pricing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 MT"/>
              <a:cs typeface="Arial MT"/>
            </a:endParaRPr>
          </a:p>
          <a:p>
            <a:pPr marL="12700" marR="31115">
              <a:lnSpc>
                <a:spcPct val="100000"/>
              </a:lnSpc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[3].</a:t>
            </a:r>
            <a:r>
              <a:rPr sz="1800" u="sng" spc="4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Network,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“Global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Trends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Web-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Solutions,”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Industry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Blog,Dec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2021. </a:t>
            </a:r>
            <a:r>
              <a:rPr sz="1800" u="sng" spc="-10" dirty="0">
                <a:solidFill>
                  <a:srgbClr val="F94817"/>
                </a:solidFill>
                <a:uFill>
                  <a:solidFill>
                    <a:srgbClr val="F94817"/>
                  </a:solidFill>
                </a:uFill>
                <a:latin typeface="Arial MT"/>
                <a:cs typeface="Arial MT"/>
                <a:hlinkClick r:id="rId4"/>
              </a:rPr>
              <a:t>https://www.parkingnetwork.com/blog/web-based-solutions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[4].</a:t>
            </a:r>
            <a:r>
              <a:rPr sz="1800" spc="4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City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India,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“Case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Study: NDMC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Smart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Initiative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Delhi,”</a:t>
            </a:r>
            <a:r>
              <a:rPr sz="1800" spc="-10" dirty="0">
                <a:latin typeface="Arial MT"/>
                <a:cs typeface="Arial MT"/>
              </a:rPr>
              <a:t> Available: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sng" spc="-10" dirty="0">
                <a:solidFill>
                  <a:srgbClr val="F94817"/>
                </a:solidFill>
                <a:uFill>
                  <a:solidFill>
                    <a:srgbClr val="F94817"/>
                  </a:solidFill>
                </a:uFill>
                <a:latin typeface="Arial MT"/>
                <a:cs typeface="Arial MT"/>
                <a:hlinkClick r:id="rId5"/>
              </a:rPr>
              <a:t>https://www.citydataindia.org/reports/ndmc-parking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 dirty="0">
              <a:latin typeface="Arial MT"/>
              <a:cs typeface="Arial MT"/>
            </a:endParaRPr>
          </a:p>
          <a:p>
            <a:pPr marL="76200" marR="5080" indent="-6413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[5].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Tech4Urban,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“User-</a:t>
            </a:r>
            <a:r>
              <a:rPr sz="1800" dirty="0">
                <a:latin typeface="Arial MT"/>
                <a:cs typeface="Arial MT"/>
              </a:rPr>
              <a:t>Centric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Design 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Smart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Platforms,”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Technology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Blog, </a:t>
            </a:r>
            <a:r>
              <a:rPr sz="1800" spc="-10" dirty="0">
                <a:latin typeface="Arial MT"/>
                <a:cs typeface="Arial MT"/>
              </a:rPr>
              <a:t>Oct,2022. </a:t>
            </a:r>
            <a:r>
              <a:rPr sz="1800" u="sng" spc="-10" dirty="0">
                <a:solidFill>
                  <a:srgbClr val="F94817"/>
                </a:solidFill>
                <a:uFill>
                  <a:solidFill>
                    <a:srgbClr val="F94817"/>
                  </a:solidFill>
                </a:uFill>
                <a:latin typeface="Arial MT"/>
                <a:cs typeface="Arial MT"/>
                <a:hlinkClick r:id="rId6"/>
              </a:rPr>
              <a:t>https://www.tech4urban.in/blog/user-centric-parking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07533" y="4261484"/>
            <a:ext cx="26314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A32E0E"/>
                </a:solidFill>
              </a:rPr>
              <a:t>Queries</a:t>
            </a:r>
            <a:r>
              <a:rPr sz="5400" spc="-220" dirty="0">
                <a:solidFill>
                  <a:srgbClr val="A32E0E"/>
                </a:solidFill>
              </a:rPr>
              <a:t> </a:t>
            </a:r>
            <a:r>
              <a:rPr sz="5400" spc="-50" dirty="0">
                <a:solidFill>
                  <a:srgbClr val="A32E0E"/>
                </a:solidFill>
              </a:rPr>
              <a:t>?</a:t>
            </a:r>
            <a:endParaRPr sz="54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9481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1312</Words>
  <Application>Microsoft Office PowerPoint</Application>
  <PresentationFormat>Widescreen</PresentationFormat>
  <Paragraphs>126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MT</vt:lpstr>
      <vt:lpstr>Calibri</vt:lpstr>
      <vt:lpstr>Times New Roman</vt:lpstr>
      <vt:lpstr>Trebuchet MS</vt:lpstr>
      <vt:lpstr>Office Theme</vt:lpstr>
      <vt:lpstr> Presentation  on Intelligent Real-Time Street Parking Solutions - ParkHub</vt:lpstr>
      <vt:lpstr>Contents</vt:lpstr>
      <vt:lpstr>1. Introduction</vt:lpstr>
      <vt:lpstr>2. Problem Statement</vt:lpstr>
      <vt:lpstr>3. System Features</vt:lpstr>
      <vt:lpstr> System Features</vt:lpstr>
      <vt:lpstr>5. System Architecture</vt:lpstr>
      <vt:lpstr>PowerPoint Presentation</vt:lpstr>
      <vt:lpstr>6. TECH STACK</vt:lpstr>
      <vt:lpstr>7.Home Page</vt:lpstr>
      <vt:lpstr>8.USER DASHBOARD</vt:lpstr>
      <vt:lpstr>9.Admin Dashboard</vt:lpstr>
      <vt:lpstr>10.Conclusion</vt:lpstr>
      <vt:lpstr>REFERENCES</vt:lpstr>
      <vt:lpstr>Queries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Rajnandani Patidar</cp:lastModifiedBy>
  <cp:revision>1</cp:revision>
  <dcterms:created xsi:type="dcterms:W3CDTF">2026-06-15T16:38:56Z</dcterms:created>
  <dcterms:modified xsi:type="dcterms:W3CDTF">2026-06-15T22:49:56Z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2026-06-15T00:00:00Z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2026-06-15T00:00:00Z</vt:filetime>
  </property>
  <property fmtid="{D5CDD505-2E9C-101B-9397-08002B2CF9AE}" pid="6" name="Producer">
    <vt:lpwstr>Microsoft® PowerPoint® for Microsoft 365</vt:lpwstr>
  </property>
</Properties>
</file>